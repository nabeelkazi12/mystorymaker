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Presentar Qaracter, el cliente (Editorial Hojarasca, ficticio) y la ocasión: comité de innovación de producto que decide si lanza una línea de novelas personalizadas. Una frase de propuesta: MyStoryMaker convierte una entrevista en una novela de regalo cuya coherencia se comprueba con validadores deterministas y verificación formal, a 0,116 $ de tokens por novela de prueba según Langfuse.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0:30–1:30 (1 min). Quién compra: el cliente de Hojarasca, particular o empresa, que busca un regalo único. Ocasiones: cumpleaños, bodas, jubilaciones, regalo corporativo. Por qué fallan las alternativas: el escritor por encargo es lento y caro; las plantillas son genéricas; un chat con un LLM no mantiene la coherencia en 10+ capítulos ni protege los datos personales. Cerrar con la oportunidad.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1:30–2:30 (1 min). Configurar: la entrevista del frontend (CrearNovela) tiene cinco pasos y un repaso; el Entrevistador valida el brief contra schema y rechaza contradicciones como edad 7 con tono noir. Escribir: «Escribir la novela» encola la tarea y el worker redacta escena a escena con Haiku 4.5 vía Claude Code; dos o tres capítulos tardan de cinco a diez minutos. Leer: portada con dedicatoria sacada del Destinatario, índice, ficha generada de la story bible, pestaña Gastos (SPEC-012) y PDF desde GET /novelas/{id}/pdf. Corregir: «pedir un cambio» sobre un hecho; avisa qué capítulos se regenerarán y ese aviso no se cierra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2:30–3:30 (primer minuto de arquitectura). El Entrevistador convierte la entrevista en Brief y Destinatario validados contra schema. El Planner produce la escaleta y el orquestador la convierte en un DAG de tareas, admitidas por un semáforo de crédito (techo de 100.000 tokens en vuelo). El worker invoca al Redactor (claude-haiku-4-5 vía Claude Code, sin pensamiento extendido). El borrador pasa por el hook de capítulo (longitud, nombres) y el hook de policy (palabras prohibidas); si falla vuelve al Redactor con los defectos, con una escalera de reintentos acotada (el guardarraíl, 3 reescrituras). El Editor/critic aporta defectos con evidencia. Lo aceptado se canoniza en la story bible, que alimenta el paquete de la escena siguiente. Publicación: puertas + Lean, exportación a PDF y lectura web. Regla clave: ningún rol llama a otro rol; el orquestador es la única autoridad sobre la máquina de estados.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3:30–4:30 (segundo minuto de arquitectura). Contexto (architecture.md §4): el límite de 100.000 tokens se interpreta como tokens en vuelo en todo el sistema; una redacción de escena recibe 24.000 (estático 2.000, estado del mundo 6.000, continuidad 3.500, pirámide de resúmenes 4.000, voz 1.500, epistémico 2.000, promesas 1.000, instrucción 1.000, margen 3.000). Al desbordar se recorta por componente en orden fijo, nunca por la cola. Story bible: canon normalizado; los hechos no cuelgan de las entidades, apuntan a un evento valido_desde y valido_hasta; versiones encadenadas, nunca sobrescritas. Tools (worker/tools.py): schema validado y límite de reintentos. Hooks (orchestrator/hooks.py): hook_de_capitulo y hook_de_policy. Justificación: los principios 3, 4 y 6 de architecture.md.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4:30–5:00. Tabla de docs/diagramas.md §4. Programáticos: guardarrail_palabras_prohibidas (hook de policy), nombres_exactos y longitud_de_capitulo (hook de capítulo), elementos_obligatorios_presentes y validación visual con browser MCP (puerta previa a publicar). Formales: invariantes de cronología en Lean (puerta) e invariantes del harness con TLC (bloquean el cambio, no la generación). Semántico: juez con rúbrica en el rol editor, solo penaliza. Inspección: revisión humana. Cada validador envía su resultado a Langfuse como score. Ser honesto: la evaluación de extremo a extremo mostró que dos validadores de la tabla no corren en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5:00–5:45. Fuente: docs/evaluacion.md, ejecución del 2026-09-25 con Claude Code (Haiku) y Redactor v1.1.0. Cada brief que genera costó de 0,12 a 0,13 $ y tardó de 105 a 139 s. Lecturas clave: la defensa en profundidad funcionó una capa más abajo (el Planner obedeció la injection del recuerdo, pero el guardarraíl la paró en la prosa); el caso de Lean no se detecta cuando lo produce el propio sistema porque el Planner no escribe fechas (H-02); nombres_exactos da 87 de 89 falsos positivos (H-04). Tuning: Redactor v1.1.0 → v1.2.0 («la extensión es un requisito»), medido en los mismos cuatro briefs: mediana 0,465 → 0,585, escenas 28 → 34, tokens de salida por invocación 1.005 → 1.251, tiempo 14,9 → 16,7 s. Veredicto: mejora pero ninguna escena llega al 90 %; SPEC-014 propone adoptarla. Además H-06: con escenas de 1.200 palabras como máximo y 7 escenas planificadas, una novela de 30.000 palabras no puede pasar del 28 %. Fila «piloto de F1» (PDF de la novela generada): 8 capítulos y 5.924 palabras de prosa (de 493 a 1.314 por capítulo), ficha con 5 personajes y 5 lugares, dedicatoria desde el Destinatario. Llega escrita de principio a fin, pero con fallos que ningún validador mira: el coche es el W15 de 2024 mientras el compañero de equipo y el duelo final en Abu Dabi son de 2021 (ningún validador contrasta hechos del mundo real); el capítulo 1 es de noche con la carrera «en tres horas» y la carrera ocurre «bajo el mediodía» (incoherencia temporal que Lean cazaría si el canon tuviera fechas, H-02); y erratas que llegan a la versión: «Decimáy ocho décimas», «los pantallas», «cien carrera», «Adu Dabi». Se encargaron 20.000 palabras y se escribieron 5.924: un 29,6 %, en línea con H-06 (el reparto de escenas limita la extensión). Además, una frase del modelo se coló en un diálogo del capítulo 2: «con todo lo que necesitas para que esta escena tenga sentido».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5:45–6:30. Lean (lean/MyStoryMaker/Cronologia.lean): tres invariantes, orden_temporal, edad_no_negativa y no_ubicuidad; el teorema cronologia_de_esta_novela_es_coherente se decide con decide sobre Datos.lean, generado desde SQLite. Fallo real, en la novela del piloto de F1 (encargo de 20.000 palabras): en el capítulo 1 el protagonista está en el hotel de noche y la carrera es «en tres horas»; en el capítulo 4 la carrera se corre «bajo el mediodía de Abu Dabi». Ni el juez, ni nombres, ni longitud miran el tiempo, y la cronología no lo ve porque el Planner no escribe evento.momento (H-02) y el validador formal no está conectado a la tubería (H-03): la versión se publicó con la contradicción. La solución es que el Planner declare el momento de cada evento; entonces orden_temporal compara la noche del hotel + 3 horas con la carrera. Lo que sí está demostrado: con la cronología sembrada, edad_no_negativa caza el caso de Sofía (RF-LEAN-05) y ningún otro validador lo hace. TLC (tla/Generacion.tla y .cfg): cuatro invariantes de seguridad más TypeOK y la propiedad de liveness Termina, en un modelo pequeño a propósito para que termine en segundos. El registro de iteraciones (I-10, I-11) dice que TLC y lake build no se ejecutaron en ese entorno por falta de Java y lake: si los habéis ejecutado, poner aquí el número de estados. Langfuse (exportación del proyecto, 24-09-2026): cada llamada al modelo es una traza en la sesión de su novela, con tokens, coste en USD, latencia y versión de prompt, sin prosa (SPEC-012). La sesión completa tiene 10 generaciones con claude-haiku-4-5: 3 candidatos de apertura del Planner (13–16 s, 0,040 $) y 7 escenas del Redactor en 4 capítulos (12,8–14,3 s, 0,076 $); total 0,116 $, 29.548 tokens de entrada y 10.259 de salida, de 21:55:20 a 21:57:18. La escena mostrada es la del capítulo 4, prompt 1.1.0. Media del Redactor en las 10 escenas exportadas: 0,0109 $, 2.622 tokens de entrada, 1.021 de salida, 13,8 s. Si queréis, añadir al lado una captura de esa sesión en Langfuse.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6:30–7:00 (30 s). Palabras prohibidas (quality/guardarrail.py): normaliza tildes, plurales y separadores (RT-03 a RT-05); deformaciones como Rikardo pasan a propósito para no bloquear capítulos correctos (RT-08). Ejemplo de la diapositiva: se pasaron las funciones reales del guardarraíl (normalizar, _formas, _frases) sobre el texto de los 8 capítulos de la novela del piloto con «cockpit» como término vetado de prueba (anglicismo): 1 coincidencia, en el capítulo 1. El guardarraíl detecta y no corrige: devuelve el capítulo al Redactor para que lo reescriba, como mucho 3 veces, y deja fila «devolver_al_writer» en el audit log. La versión publicada de esa novela pasó el hook de policy con sus propias vetadas. Caso real de extremo a extremo: en el brief injection el Planner obedeció la orden y creó a Ricardo; el hook de policy devolvió 3 borradores y la novela quedó detenida con 0 Ricardo en la prosa. Datos personales: el cliente de Langfuse no envía prosa ni el paquete de contexto (RF-LAN-04); retirar una novela la saca de la API y la biblioteca; el borrado duro solo por petición explícita y con registro. Injection: envolver_texto_no_confiable y cinco patrones; el detector cazó 1 de 3 órdenes (H-08) y los recuerdos llegan al Planner sin envoltorio (H-07). Audit log: fila por coincidencia, ligada al capítulo.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7:00–7:30. Todo en USD porque el coste llega en USD desde Claude Code y el proyecto decidió no convertirlo con un tipo inventado (SPEC-012 N-02). Referencia de producto: la novela del piloto de F1, encargada con 20.000 palabras. Tarifa medida en Langfuse (exportación del 24-09-2026): 0,0109 $ de media por escena del Redactor y 0,040 $ por las 3 aperturas del Planner. Esa novela entregó 5.924 palabras en 8 capítulos, unas 10 escenas (≈ 592 palabras por escena), así que su coste de tokens fue de unos 10 × 0,0109 + 0,040 ≈ 0,15 $ (estimado con la tarifa de Langfuse; su sesión no está en la exportación). Para entregar las 20.000 palabras encargadas harían falta unas 34 escenas: 34 × 0,0109 + 0,040 ≈ 0,41 $. El coste escala con las escenas porque cada paquete de contexto tiene tamaño constante. Ojo: con claude -p el coste registrado es el equivalente de API (Haiku 4.5). Infraestructura: servidor pequeño (Hetzner CX23 desde unos 4,5 $/mes) + Langfuse Core (29 $/mes) + copias y dominio ≈ 40 $/mes, entre 200 novelas. Margen operativo: 6 min de soporte a 25 $/h (2,50 $) + 3 revisiones incluidas (3 × 0,12 $ = 0,36 $; una revisión que afecte a un tercio de la novela regenera unas 11 escenas). Precio: 29 $, supuesto de precio de regalo. Proyecto: horas estimadas sobre el alcance real del repositorio a una tarifa supuesta de 45 $/h; se recupera con 16.650 / 5.106 ≈ 3,3 meses de margen del escenario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7:30–8:00. Base: novela de 20.000 palabras como la del piloto de F1. Margen = ingresos − coste variable (3,27 $ por novela: 0,41 de tokens + 2,86 de margen operativo) − fijos (40 $/mes; 80 $ con 1.000 novelas por un servidor mayor y más uso de Langfuse). Capacidad: en Langfuse una escena tarda 13,8 s de media; 34 escenas son unos 8 minutos por novela, así que 1.000 novelas al mes caben en un solo worker. Sensibilidad 1: tokens × 1,5 → 0,62 $; coste 3,68 $; margen (29 − 3,68) / 29 = 87,3 %. Sensibilidad 2: una revisión regenera solo los capítulos que usan el hecho; si afecta a un tercio de la novela son unas 11 escenas × 0,0109 $ ≈ 0,12 $. Lo que cuesta de verdad es el tiempo de soporte, por eso se cobra desde la cuarta.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8:00–8:40. Demo con la semilla (uv run python -m backend.store.semilla_demo) en http://localhost:5173: botón «pedir un cambio» en la ficha; el aviso de qué capítulos se regenerarán no se cierra solo. Por terminal: curl -X POST http://localhost:8000/novelas/vol-1/cambios con {"hecho_id":"he-perro","descripcion":"el perro se llama Nala"} devuelve los capítulos 1 y 3; con he-casa («la casa era azul») solo el 1. Implementación: capitulos_afectados + UsoDeHechos.capitulos_de, la acción PedirCambio(c) de TLA+. En la lectura, la versión 2 marca como cambiado el capítulo que corresponda y el PDF se vuelve a descargar desde GET /novelas/{id}/pdf.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8:40–9:00. Riesgos sacados de los hallazgos de docs/evaluacion.md §6. H-06: con escenas de 1.200 palabras como máximo y 7 escenas, una novela de 30.000 palabras no pasa del 28 %. H-02/H-03: el validador formal y elementos obligatorios no corren en producción. H-07/H-08: la injection del recuerdo no se detectó y el Planner la obedeció en 1 de 2 ejecuciones. H-04: 87 de 89 detecciones de nombres son falsos positivos. Siguientes pasos: SPEC-014 (adoptar el Redactor v1.2.0 y que cada rol registre su versión de prompt), specs separadas para los demás hallazgos, ejecutar TLC y lake build en una máquina con Java y lake, generar ejemplos/novela-ejemplo.pdf y piloto. Cerrar pidiendo la decisión y abrir los 5 minutos de preguntas técnicas.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Contraportada. Dejarla en pantalla durante las preguntas técnicas. Rellenar los datos de contacto de la empresa presentadora.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2025" y="1152525"/>
            <a:ext cx="4552950" cy="4552950"/>
          </a:xfrm>
          <a:prstGeom prst="roundRect">
            <a:avLst>
              <a:gd name="adj" fmla="val 35495"/>
            </a:avLst>
          </a:prstGeom>
          <a:noFill/>
          <a:ln w="19050">
            <a:solidFill>
              <a:srgbClr val="FBAA80"/>
            </a:solidFill>
            <a:prstDash val="solid"/>
          </a:ln>
        </p:spPr>
      </p:sp>
      <p:sp>
        <p:nvSpPr>
          <p:cNvPr id="3" name="Shape 1"/>
          <p:cNvSpPr/>
          <p:nvPr/>
        </p:nvSpPr>
        <p:spPr>
          <a:xfrm>
            <a:off x="8010525" y="1851025"/>
            <a:ext cx="3155950" cy="3155950"/>
          </a:xfrm>
          <a:prstGeom prst="roundRect">
            <a:avLst>
              <a:gd name="adj" fmla="val 50000"/>
            </a:avLst>
          </a:prstGeom>
          <a:noFill/>
          <a:ln w="19050">
            <a:solidFill>
              <a:srgbClr val="FBAA80"/>
            </a:solidFill>
            <a:prstDash val="solid"/>
          </a:ln>
        </p:spPr>
      </p:sp>
      <p:sp>
        <p:nvSpPr>
          <p:cNvPr id="4" name="Shape 2"/>
          <p:cNvSpPr/>
          <p:nvPr/>
        </p:nvSpPr>
        <p:spPr>
          <a:xfrm>
            <a:off x="8709025" y="2549525"/>
            <a:ext cx="1758950" cy="1758950"/>
          </a:xfrm>
          <a:prstGeom prst="roundRect">
            <a:avLst>
              <a:gd name="adj" fmla="val 50000"/>
            </a:avLst>
          </a:prstGeom>
          <a:noFill/>
          <a:ln w="19050">
            <a:solidFill>
              <a:srgbClr val="FBAA80"/>
            </a:solidFill>
            <a:prstDash val="solid"/>
          </a:ln>
        </p:spPr>
      </p:sp>
      <p:pic>
        <p:nvPicPr>
          <p:cNvPr id="5" name="Image 0" descr="ellipse">    </p:cNvPr>
          <p:cNvPicPr>
            <a:picLocks noChangeAspect="1"/>
          </p:cNvPicPr>
          <p:nvPr/>
        </p:nvPicPr>
        <p:blipFill>
          <a:blip r:embed="rId1"/>
          <a:srcRect l="0" r="0" t="0" b="0"/>
          <a:stretch/>
        </p:blipFill>
        <p:spPr>
          <a:xfrm>
            <a:off x="9271000" y="3111500"/>
            <a:ext cx="635000" cy="635000"/>
          </a:xfrm>
          <a:prstGeom prst="rect">
            <a:avLst/>
          </a:prstGeom>
        </p:spPr>
      </p:pic>
      <p:sp>
        <p:nvSpPr>
          <p:cNvPr id="6" name="Text 3"/>
          <p:cNvSpPr/>
          <p:nvPr/>
        </p:nvSpPr>
        <p:spPr>
          <a:xfrm>
            <a:off x="812800" y="812800"/>
            <a:ext cx="65405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PROPUESTA TÉCNICA Y ECONÓMICA</a:t>
            </a:r>
            <a:endParaRPr lang="en-US" sz="1200" dirty="0"/>
          </a:p>
        </p:txBody>
      </p:sp>
      <p:sp>
        <p:nvSpPr>
          <p:cNvPr id="7" name="Text 4"/>
          <p:cNvSpPr/>
          <p:nvPr/>
        </p:nvSpPr>
        <p:spPr>
          <a:xfrm>
            <a:off x="812800" y="1203920"/>
            <a:ext cx="6540500" cy="1506538"/>
          </a:xfrm>
          <a:prstGeom prst="rect">
            <a:avLst/>
          </a:prstGeom>
          <a:noFill/>
          <a:ln/>
        </p:spPr>
        <p:txBody>
          <a:bodyPr wrap="square" lIns="0" tIns="0" rIns="0" bIns="0" rtlCol="0" anchor="t">
            <a:normAutofit/>
          </a:bodyPr>
          <a:lstStyle/>
          <a:p>
            <a:pPr algn="l" indent="0" marL="0">
              <a:lnSpc>
                <a:spcPts val="3888"/>
              </a:lnSpc>
              <a:buNone/>
            </a:pPr>
            <a:r>
              <a:rPr lang="en-US" sz="3600" b="1" spc="-75" kern="0" dirty="0">
                <a:solidFill>
                  <a:srgbClr val="233441"/>
                </a:solidFill>
                <a:latin typeface="DM Sans" pitchFamily="34" charset="0"/>
                <a:ea typeface="DM Sans" pitchFamily="34" charset="-122"/>
                <a:cs typeface="DM Sans" pitchFamily="34" charset="-120"/>
              </a:rPr>
              <a:t>Novelas personalizadas escritas por un harness de agentes</a:t>
            </a:r>
            <a:endParaRPr lang="en-US" sz="3600" dirty="0"/>
          </a:p>
        </p:txBody>
      </p:sp>
      <p:sp>
        <p:nvSpPr>
          <p:cNvPr id="8" name="Text 5"/>
          <p:cNvSpPr/>
          <p:nvPr/>
        </p:nvSpPr>
        <p:spPr>
          <a:xfrm>
            <a:off x="812800" y="2862858"/>
            <a:ext cx="6540500" cy="594254"/>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C4645"/>
                </a:solidFill>
                <a:latin typeface="DM Sans" pitchFamily="34" charset="0"/>
                <a:ea typeface="DM Sans" pitchFamily="34" charset="-122"/>
                <a:cs typeface="DM Sans" pitchFamily="34" charset="-120"/>
              </a:rPr>
              <a:t>MyStoryMaker</a:t>
            </a:r>
            <a:r>
              <a:rPr lang="en-US" sz="1600" dirty="0">
                <a:solidFill>
                  <a:srgbClr val="3C4645"/>
                </a:solidFill>
                <a:latin typeface="DM Sans" pitchFamily="34" charset="0"/>
                <a:ea typeface="DM Sans" pitchFamily="34" charset="-122"/>
                <a:cs typeface="DM Sans" pitchFamily="34" charset="-120"/>
              </a:rPr>
              <a:t>: de una entrevista de cinco pasos a una novela coherente que el lector lee y corrige en web o PDF.</a:t>
            </a:r>
            <a:endParaRPr lang="en-US" sz="1600" dirty="0"/>
          </a:p>
        </p:txBody>
      </p:sp>
      <p:sp>
        <p:nvSpPr>
          <p:cNvPr id="9" name="Shape 6"/>
          <p:cNvSpPr/>
          <p:nvPr/>
        </p:nvSpPr>
        <p:spPr>
          <a:xfrm>
            <a:off x="825500" y="4135239"/>
            <a:ext cx="0" cy="518120"/>
          </a:xfrm>
          <a:prstGeom prst="line">
            <a:avLst/>
          </a:prstGeom>
          <a:noFill/>
          <a:ln w="25400">
            <a:solidFill>
              <a:srgbClr val="FF7932"/>
            </a:solidFill>
            <a:prstDash val="solid"/>
          </a:ln>
        </p:spPr>
      </p:sp>
      <p:sp>
        <p:nvSpPr>
          <p:cNvPr id="10" name="Text 7"/>
          <p:cNvSpPr/>
          <p:nvPr/>
        </p:nvSpPr>
        <p:spPr>
          <a:xfrm>
            <a:off x="965200" y="4135239"/>
            <a:ext cx="298246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7785"/>
                </a:solidFill>
                <a:latin typeface="DM Sans" pitchFamily="34" charset="0"/>
                <a:ea typeface="DM Sans" pitchFamily="34" charset="-122"/>
                <a:cs typeface="DM Sans" pitchFamily="34" charset="-120"/>
              </a:rPr>
              <a:t>EMPRESA PRESENTADORA</a:t>
            </a:r>
            <a:endParaRPr lang="en-US" sz="1200" dirty="0"/>
          </a:p>
        </p:txBody>
      </p:sp>
      <p:sp>
        <p:nvSpPr>
          <p:cNvPr id="11" name="Text 8"/>
          <p:cNvSpPr/>
          <p:nvPr/>
        </p:nvSpPr>
        <p:spPr>
          <a:xfrm>
            <a:off x="965200" y="4386659"/>
            <a:ext cx="298246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33441"/>
                </a:solidFill>
                <a:latin typeface="DM Sans" pitchFamily="34" charset="0"/>
                <a:ea typeface="DM Sans" pitchFamily="34" charset="-122"/>
                <a:cs typeface="DM Sans" pitchFamily="34" charset="-120"/>
              </a:rPr>
              <a:t>Qaracter</a:t>
            </a:r>
            <a:endParaRPr lang="en-US" sz="1500" dirty="0"/>
          </a:p>
        </p:txBody>
      </p:sp>
      <p:sp>
        <p:nvSpPr>
          <p:cNvPr id="12" name="Shape 9"/>
          <p:cNvSpPr/>
          <p:nvPr/>
        </p:nvSpPr>
        <p:spPr>
          <a:xfrm>
            <a:off x="4051300" y="4135239"/>
            <a:ext cx="0" cy="518120"/>
          </a:xfrm>
          <a:prstGeom prst="line">
            <a:avLst/>
          </a:prstGeom>
          <a:noFill/>
          <a:ln w="25400">
            <a:solidFill>
              <a:srgbClr val="FF7932"/>
            </a:solidFill>
            <a:prstDash val="solid"/>
          </a:ln>
        </p:spPr>
      </p:sp>
      <p:sp>
        <p:nvSpPr>
          <p:cNvPr id="13" name="Text 10"/>
          <p:cNvSpPr/>
          <p:nvPr/>
        </p:nvSpPr>
        <p:spPr>
          <a:xfrm>
            <a:off x="4191000" y="4135239"/>
            <a:ext cx="298246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7785"/>
                </a:solidFill>
                <a:latin typeface="DM Sans" pitchFamily="34" charset="0"/>
                <a:ea typeface="DM Sans" pitchFamily="34" charset="-122"/>
                <a:cs typeface="DM Sans" pitchFamily="34" charset="-120"/>
              </a:rPr>
              <a:t>CLIENTE (FICTICIO)</a:t>
            </a:r>
            <a:endParaRPr lang="en-US" sz="1200" dirty="0"/>
          </a:p>
        </p:txBody>
      </p:sp>
      <p:sp>
        <p:nvSpPr>
          <p:cNvPr id="14" name="Text 11"/>
          <p:cNvSpPr/>
          <p:nvPr/>
        </p:nvSpPr>
        <p:spPr>
          <a:xfrm>
            <a:off x="4191000" y="4386659"/>
            <a:ext cx="298246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33441"/>
                </a:solidFill>
                <a:latin typeface="DM Sans" pitchFamily="34" charset="0"/>
                <a:ea typeface="DM Sans" pitchFamily="34" charset="-122"/>
                <a:cs typeface="DM Sans" pitchFamily="34" charset="-120"/>
              </a:rPr>
              <a:t>Editorial Hojarasca</a:t>
            </a:r>
            <a:endParaRPr lang="en-US" sz="1500" dirty="0"/>
          </a:p>
        </p:txBody>
      </p:sp>
      <p:sp>
        <p:nvSpPr>
          <p:cNvPr id="15" name="Shape 12"/>
          <p:cNvSpPr/>
          <p:nvPr/>
        </p:nvSpPr>
        <p:spPr>
          <a:xfrm>
            <a:off x="825500" y="4831159"/>
            <a:ext cx="0" cy="518120"/>
          </a:xfrm>
          <a:prstGeom prst="line">
            <a:avLst/>
          </a:prstGeom>
          <a:noFill/>
          <a:ln w="25400">
            <a:solidFill>
              <a:srgbClr val="FF7932"/>
            </a:solidFill>
            <a:prstDash val="solid"/>
          </a:ln>
        </p:spPr>
      </p:sp>
      <p:sp>
        <p:nvSpPr>
          <p:cNvPr id="16" name="Text 13"/>
          <p:cNvSpPr/>
          <p:nvPr/>
        </p:nvSpPr>
        <p:spPr>
          <a:xfrm>
            <a:off x="965200" y="4831159"/>
            <a:ext cx="298246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7785"/>
                </a:solidFill>
                <a:latin typeface="DM Sans" pitchFamily="34" charset="0"/>
                <a:ea typeface="DM Sans" pitchFamily="34" charset="-122"/>
                <a:cs typeface="DM Sans" pitchFamily="34" charset="-120"/>
              </a:rPr>
              <a:t>FECHA</a:t>
            </a:r>
            <a:endParaRPr lang="en-US" sz="1200" dirty="0"/>
          </a:p>
        </p:txBody>
      </p:sp>
      <p:sp>
        <p:nvSpPr>
          <p:cNvPr id="17" name="Text 14"/>
          <p:cNvSpPr/>
          <p:nvPr/>
        </p:nvSpPr>
        <p:spPr>
          <a:xfrm>
            <a:off x="965200" y="5082580"/>
            <a:ext cx="298246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33441"/>
                </a:solidFill>
                <a:latin typeface="DM Sans" pitchFamily="34" charset="0"/>
                <a:ea typeface="DM Sans" pitchFamily="34" charset="-122"/>
                <a:cs typeface="DM Sans" pitchFamily="34" charset="-120"/>
              </a:rPr>
              <a:t>25 de septiembre de 2026</a:t>
            </a:r>
            <a:endParaRPr lang="en-US" sz="1500" dirty="0"/>
          </a:p>
        </p:txBody>
      </p:sp>
      <p:sp>
        <p:nvSpPr>
          <p:cNvPr id="18" name="Shape 15"/>
          <p:cNvSpPr/>
          <p:nvPr/>
        </p:nvSpPr>
        <p:spPr>
          <a:xfrm>
            <a:off x="4051300" y="4831159"/>
            <a:ext cx="0" cy="518120"/>
          </a:xfrm>
          <a:prstGeom prst="line">
            <a:avLst/>
          </a:prstGeom>
          <a:noFill/>
          <a:ln w="25400">
            <a:solidFill>
              <a:srgbClr val="FF7932"/>
            </a:solidFill>
            <a:prstDash val="solid"/>
          </a:ln>
        </p:spPr>
      </p:sp>
      <p:sp>
        <p:nvSpPr>
          <p:cNvPr id="19" name="Text 16"/>
          <p:cNvSpPr/>
          <p:nvPr/>
        </p:nvSpPr>
        <p:spPr>
          <a:xfrm>
            <a:off x="4191000" y="4831159"/>
            <a:ext cx="298246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7785"/>
                </a:solidFill>
                <a:latin typeface="DM Sans" pitchFamily="34" charset="0"/>
                <a:ea typeface="DM Sans" pitchFamily="34" charset="-122"/>
                <a:cs typeface="DM Sans" pitchFamily="34" charset="-120"/>
              </a:rPr>
              <a:t>ESTUDIANTE</a:t>
            </a:r>
            <a:endParaRPr lang="en-US" sz="1200" dirty="0"/>
          </a:p>
        </p:txBody>
      </p:sp>
      <p:sp>
        <p:nvSpPr>
          <p:cNvPr id="20" name="Text 17"/>
          <p:cNvSpPr/>
          <p:nvPr/>
        </p:nvSpPr>
        <p:spPr>
          <a:xfrm>
            <a:off x="4191000" y="5082580"/>
            <a:ext cx="298246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33441"/>
                </a:solidFill>
                <a:latin typeface="DM Sans" pitchFamily="34" charset="0"/>
                <a:ea typeface="DM Sans" pitchFamily="34" charset="-122"/>
                <a:cs typeface="DM Sans" pitchFamily="34" charset="-120"/>
              </a:rPr>
              <a:t>Nabeel Kazi Peña</a:t>
            </a:r>
            <a:endParaRPr lang="en-US" sz="1500" dirty="0"/>
          </a:p>
        </p:txBody>
      </p:sp>
      <p:sp>
        <p:nvSpPr>
          <p:cNvPr id="21" name="Shape 18"/>
          <p:cNvSpPr/>
          <p:nvPr/>
        </p:nvSpPr>
        <p:spPr>
          <a:xfrm>
            <a:off x="825500" y="5527080"/>
            <a:ext cx="0" cy="518120"/>
          </a:xfrm>
          <a:prstGeom prst="line">
            <a:avLst/>
          </a:prstGeom>
          <a:noFill/>
          <a:ln w="25400">
            <a:solidFill>
              <a:srgbClr val="FF7932"/>
            </a:solidFill>
            <a:prstDash val="solid"/>
          </a:ln>
        </p:spPr>
      </p:sp>
      <p:sp>
        <p:nvSpPr>
          <p:cNvPr id="22" name="Text 19"/>
          <p:cNvSpPr/>
          <p:nvPr/>
        </p:nvSpPr>
        <p:spPr>
          <a:xfrm>
            <a:off x="965200" y="5527080"/>
            <a:ext cx="630504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7785"/>
                </a:solidFill>
                <a:latin typeface="DM Sans" pitchFamily="34" charset="0"/>
                <a:ea typeface="DM Sans" pitchFamily="34" charset="-122"/>
                <a:cs typeface="DM Sans" pitchFamily="34" charset="-120"/>
              </a:rPr>
              <a:t>OCASIÓN</a:t>
            </a:r>
            <a:endParaRPr lang="en-US" sz="1200" dirty="0"/>
          </a:p>
        </p:txBody>
      </p:sp>
      <p:sp>
        <p:nvSpPr>
          <p:cNvPr id="23" name="Text 20"/>
          <p:cNvSpPr/>
          <p:nvPr/>
        </p:nvSpPr>
        <p:spPr>
          <a:xfrm>
            <a:off x="965200" y="5778500"/>
            <a:ext cx="630504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33441"/>
                </a:solidFill>
                <a:latin typeface="DM Sans" pitchFamily="34" charset="0"/>
                <a:ea typeface="DM Sans" pitchFamily="34" charset="-122"/>
                <a:cs typeface="DM Sans" pitchFamily="34" charset="-120"/>
              </a:rPr>
              <a:t>Comité de innovación de producto de Editorial Hojarasca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1074400" y="762000"/>
            <a:ext cx="304800" cy="304800"/>
          </a:xfrm>
          <a:prstGeom prst="rect">
            <a:avLst/>
          </a:prstGeom>
        </p:spPr>
      </p:pic>
      <p:sp>
        <p:nvSpPr>
          <p:cNvPr id="3" name="Text 0"/>
          <p:cNvSpPr/>
          <p:nvPr/>
        </p:nvSpPr>
        <p:spPr>
          <a:xfrm>
            <a:off x="812800" y="81280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01 · PROBLEMA Y CLIENTE</a:t>
            </a:r>
            <a:endParaRPr lang="en-US" sz="1200" dirty="0"/>
          </a:p>
        </p:txBody>
      </p:sp>
      <p:sp>
        <p:nvSpPr>
          <p:cNvPr id="4" name="Text 1"/>
          <p:cNvSpPr/>
          <p:nvPr/>
        </p:nvSpPr>
        <p:spPr>
          <a:xfrm>
            <a:off x="812800" y="1102320"/>
            <a:ext cx="10203180" cy="416520"/>
          </a:xfrm>
          <a:prstGeom prst="rect">
            <a:avLst/>
          </a:prstGeom>
          <a:noFill/>
          <a:ln/>
        </p:spPr>
        <p:txBody>
          <a:bodyPr wrap="square" lIns="0" tIns="0" rIns="0" bIns="0" rtlCol="0" anchor="t">
            <a:normAutofit/>
          </a:bodyPr>
          <a:lstStyle/>
          <a:p>
            <a:pPr algn="l" indent="0" marL="0">
              <a:lnSpc>
                <a:spcPts val="3080"/>
              </a:lnSpc>
              <a:buNone/>
            </a:pPr>
            <a:r>
              <a:rPr lang="en-US" sz="2800" b="1" spc="-50" kern="0" dirty="0">
                <a:solidFill>
                  <a:srgbClr val="233441"/>
                </a:solidFill>
                <a:latin typeface="DM Sans" pitchFamily="34" charset="0"/>
                <a:ea typeface="DM Sans" pitchFamily="34" charset="-122"/>
                <a:cs typeface="DM Sans" pitchFamily="34" charset="-120"/>
              </a:rPr>
              <a:t>Un regalo que hoy nadie sabe fabricar bien</a:t>
            </a:r>
            <a:endParaRPr lang="en-US" sz="2800" dirty="0"/>
          </a:p>
        </p:txBody>
      </p:sp>
      <p:sp>
        <p:nvSpPr>
          <p:cNvPr id="5" name="Shape 2"/>
          <p:cNvSpPr/>
          <p:nvPr/>
        </p:nvSpPr>
        <p:spPr>
          <a:xfrm>
            <a:off x="812800" y="1747441"/>
            <a:ext cx="4572000" cy="1470554"/>
          </a:xfrm>
          <a:prstGeom prst="roundRect">
            <a:avLst>
              <a:gd name="adj" fmla="val 6909"/>
            </a:avLst>
          </a:prstGeom>
          <a:solidFill>
            <a:srgbClr val="F4F6F8"/>
          </a:solidFill>
          <a:ln/>
        </p:spPr>
      </p:sp>
      <p:sp>
        <p:nvSpPr>
          <p:cNvPr id="6" name="Text 3"/>
          <p:cNvSpPr/>
          <p:nvPr/>
        </p:nvSpPr>
        <p:spPr>
          <a:xfrm>
            <a:off x="1041400" y="1976041"/>
            <a:ext cx="423824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Quién compra</a:t>
            </a:r>
            <a:endParaRPr lang="en-US" sz="1600" dirty="0"/>
          </a:p>
        </p:txBody>
      </p:sp>
      <p:sp>
        <p:nvSpPr>
          <p:cNvPr id="7" name="Text 4"/>
          <p:cNvSpPr/>
          <p:nvPr/>
        </p:nvSpPr>
        <p:spPr>
          <a:xfrm>
            <a:off x="1041400" y="2296054"/>
            <a:ext cx="4238244"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Editorial Hojarasca vende a particulares y empresas que quieren regalar una novela donde aparecen personas y lugares reales de su vida.</a:t>
            </a:r>
            <a:endParaRPr lang="en-US" sz="1300" dirty="0"/>
          </a:p>
        </p:txBody>
      </p:sp>
      <p:sp>
        <p:nvSpPr>
          <p:cNvPr id="8" name="Shape 5"/>
          <p:cNvSpPr/>
          <p:nvPr/>
        </p:nvSpPr>
        <p:spPr>
          <a:xfrm>
            <a:off x="812800" y="3370395"/>
            <a:ext cx="4572000" cy="1525588"/>
          </a:xfrm>
          <a:prstGeom prst="roundRect">
            <a:avLst>
              <a:gd name="adj" fmla="val 6660"/>
            </a:avLst>
          </a:prstGeom>
          <a:solidFill>
            <a:srgbClr val="F4F6F8"/>
          </a:solidFill>
          <a:ln/>
        </p:spPr>
      </p:sp>
      <p:sp>
        <p:nvSpPr>
          <p:cNvPr id="9" name="Text 6"/>
          <p:cNvSpPr/>
          <p:nvPr/>
        </p:nvSpPr>
        <p:spPr>
          <a:xfrm>
            <a:off x="1041400" y="3598995"/>
            <a:ext cx="423824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Para qué ocasiones</a:t>
            </a:r>
            <a:endParaRPr lang="en-US" sz="1600" dirty="0"/>
          </a:p>
        </p:txBody>
      </p:sp>
      <p:sp>
        <p:nvSpPr>
          <p:cNvPr id="10" name="Shape 7"/>
          <p:cNvSpPr/>
          <p:nvPr/>
        </p:nvSpPr>
        <p:spPr>
          <a:xfrm>
            <a:off x="1044575" y="3947584"/>
            <a:ext cx="1141743" cy="317037"/>
          </a:xfrm>
          <a:prstGeom prst="roundRect">
            <a:avLst>
              <a:gd name="adj" fmla="val 50000"/>
            </a:avLst>
          </a:prstGeom>
          <a:solidFill>
            <a:srgbClr val="FFFFFF"/>
          </a:solidFill>
          <a:ln w="6350">
            <a:solidFill>
              <a:srgbClr val="E6EAEE"/>
            </a:solidFill>
            <a:prstDash val="solid"/>
          </a:ln>
        </p:spPr>
      </p:sp>
      <p:sp>
        <p:nvSpPr>
          <p:cNvPr id="11" name="Text 8"/>
          <p:cNvSpPr/>
          <p:nvPr/>
        </p:nvSpPr>
        <p:spPr>
          <a:xfrm>
            <a:off x="1172633" y="3999442"/>
            <a:ext cx="9364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Cumpleaños</a:t>
            </a:r>
            <a:endParaRPr lang="en-US" sz="1200" dirty="0"/>
          </a:p>
        </p:txBody>
      </p:sp>
      <p:sp>
        <p:nvSpPr>
          <p:cNvPr id="12" name="Shape 9"/>
          <p:cNvSpPr/>
          <p:nvPr/>
        </p:nvSpPr>
        <p:spPr>
          <a:xfrm>
            <a:off x="2268868" y="3947584"/>
            <a:ext cx="1120114" cy="317037"/>
          </a:xfrm>
          <a:prstGeom prst="roundRect">
            <a:avLst>
              <a:gd name="adj" fmla="val 50000"/>
            </a:avLst>
          </a:prstGeom>
          <a:solidFill>
            <a:srgbClr val="FFFFFF"/>
          </a:solidFill>
          <a:ln w="6350">
            <a:solidFill>
              <a:srgbClr val="E6EAEE"/>
            </a:solidFill>
            <a:prstDash val="solid"/>
          </a:ln>
        </p:spPr>
      </p:sp>
      <p:sp>
        <p:nvSpPr>
          <p:cNvPr id="13" name="Text 10"/>
          <p:cNvSpPr/>
          <p:nvPr/>
        </p:nvSpPr>
        <p:spPr>
          <a:xfrm>
            <a:off x="2396927" y="3999442"/>
            <a:ext cx="9147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Aniversarios</a:t>
            </a:r>
            <a:endParaRPr lang="en-US" sz="1200" dirty="0"/>
          </a:p>
        </p:txBody>
      </p:sp>
      <p:sp>
        <p:nvSpPr>
          <p:cNvPr id="14" name="Shape 11"/>
          <p:cNvSpPr/>
          <p:nvPr/>
        </p:nvSpPr>
        <p:spPr>
          <a:xfrm>
            <a:off x="3471532" y="3947584"/>
            <a:ext cx="693407" cy="317037"/>
          </a:xfrm>
          <a:prstGeom prst="roundRect">
            <a:avLst>
              <a:gd name="adj" fmla="val 50000"/>
            </a:avLst>
          </a:prstGeom>
          <a:solidFill>
            <a:srgbClr val="FFFFFF"/>
          </a:solidFill>
          <a:ln w="6350">
            <a:solidFill>
              <a:srgbClr val="E6EAEE"/>
            </a:solidFill>
            <a:prstDash val="solid"/>
          </a:ln>
        </p:spPr>
      </p:sp>
      <p:sp>
        <p:nvSpPr>
          <p:cNvPr id="15" name="Text 12"/>
          <p:cNvSpPr/>
          <p:nvPr/>
        </p:nvSpPr>
        <p:spPr>
          <a:xfrm>
            <a:off x="3599590" y="3999442"/>
            <a:ext cx="4880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Bodas</a:t>
            </a:r>
            <a:endParaRPr lang="en-US" sz="1200" dirty="0"/>
          </a:p>
        </p:txBody>
      </p:sp>
      <p:sp>
        <p:nvSpPr>
          <p:cNvPr id="16" name="Shape 13"/>
          <p:cNvSpPr/>
          <p:nvPr/>
        </p:nvSpPr>
        <p:spPr>
          <a:xfrm>
            <a:off x="1044575" y="4347170"/>
            <a:ext cx="1133343" cy="317037"/>
          </a:xfrm>
          <a:prstGeom prst="roundRect">
            <a:avLst>
              <a:gd name="adj" fmla="val 50000"/>
            </a:avLst>
          </a:prstGeom>
          <a:solidFill>
            <a:srgbClr val="FFFFFF"/>
          </a:solidFill>
          <a:ln w="6350">
            <a:solidFill>
              <a:srgbClr val="E6EAEE"/>
            </a:solidFill>
            <a:prstDash val="solid"/>
          </a:ln>
        </p:spPr>
      </p:sp>
      <p:sp>
        <p:nvSpPr>
          <p:cNvPr id="17" name="Text 14"/>
          <p:cNvSpPr/>
          <p:nvPr/>
        </p:nvSpPr>
        <p:spPr>
          <a:xfrm>
            <a:off x="1172633" y="4399029"/>
            <a:ext cx="9280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Jubilaciones</a:t>
            </a:r>
            <a:endParaRPr lang="en-US" sz="1200" dirty="0"/>
          </a:p>
        </p:txBody>
      </p:sp>
      <p:sp>
        <p:nvSpPr>
          <p:cNvPr id="18" name="Shape 15"/>
          <p:cNvSpPr/>
          <p:nvPr/>
        </p:nvSpPr>
        <p:spPr>
          <a:xfrm>
            <a:off x="2260468" y="4347170"/>
            <a:ext cx="1139031" cy="317037"/>
          </a:xfrm>
          <a:prstGeom prst="roundRect">
            <a:avLst>
              <a:gd name="adj" fmla="val 50000"/>
            </a:avLst>
          </a:prstGeom>
          <a:solidFill>
            <a:srgbClr val="FFFFFF"/>
          </a:solidFill>
          <a:ln w="6350">
            <a:solidFill>
              <a:srgbClr val="E6EAEE"/>
            </a:solidFill>
            <a:prstDash val="solid"/>
          </a:ln>
        </p:spPr>
      </p:sp>
      <p:sp>
        <p:nvSpPr>
          <p:cNvPr id="19" name="Text 16"/>
          <p:cNvSpPr/>
          <p:nvPr/>
        </p:nvSpPr>
        <p:spPr>
          <a:xfrm>
            <a:off x="2388526" y="4399029"/>
            <a:ext cx="9337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Nacimientos</a:t>
            </a:r>
            <a:endParaRPr lang="en-US" sz="1200" dirty="0"/>
          </a:p>
        </p:txBody>
      </p:sp>
      <p:sp>
        <p:nvSpPr>
          <p:cNvPr id="20" name="Shape 17"/>
          <p:cNvSpPr/>
          <p:nvPr/>
        </p:nvSpPr>
        <p:spPr>
          <a:xfrm>
            <a:off x="3482049" y="4347170"/>
            <a:ext cx="1600928" cy="317037"/>
          </a:xfrm>
          <a:prstGeom prst="roundRect">
            <a:avLst>
              <a:gd name="adj" fmla="val 50000"/>
            </a:avLst>
          </a:prstGeom>
          <a:solidFill>
            <a:srgbClr val="FFFFFF"/>
          </a:solidFill>
          <a:ln w="6350">
            <a:solidFill>
              <a:srgbClr val="E6EAEE"/>
            </a:solidFill>
            <a:prstDash val="solid"/>
          </a:ln>
        </p:spPr>
      </p:sp>
      <p:sp>
        <p:nvSpPr>
          <p:cNvPr id="21" name="Text 18"/>
          <p:cNvSpPr/>
          <p:nvPr/>
        </p:nvSpPr>
        <p:spPr>
          <a:xfrm>
            <a:off x="3610107" y="4399029"/>
            <a:ext cx="13956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Regalo de empresa</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549900" y="1760141"/>
          <a:ext cx="5829300" cy="2712508"/>
        </p:xfrm>
        <a:graphic>
          <a:graphicData uri="http://schemas.openxmlformats.org/drawingml/2006/table">
            <a:tbl>
              <a:tblPr/>
              <a:tblGrid>
                <a:gridCol w="2098548"/>
                <a:gridCol w="3730752"/>
              </a:tblGrid>
              <a:tr h="447014">
                <a:tc>
                  <a:txBody>
                    <a:bodyPr/>
                    <a:lstStyle/>
                    <a:p>
                      <a:pPr indent="0" marL="0">
                        <a:lnSpc>
                          <a:spcPts val="1820"/>
                        </a:lnSpc>
                        <a:buNone/>
                      </a:pPr>
                      <a:r>
                        <a:rPr lang="en-US" sz="1300" b="1" dirty="0">
                          <a:solidFill>
                            <a:srgbClr val="FFFFFF"/>
                          </a:solidFill>
                          <a:latin typeface="DM Sans" pitchFamily="34" charset="0"/>
                          <a:ea typeface="DM Sans" pitchFamily="34" charset="-122"/>
                          <a:cs typeface="DM Sans" pitchFamily="34" charset="-120"/>
                        </a:rPr>
                        <a:t>Alternativa actual</a:t>
                      </a:r>
                      <a:endParaRPr lang="en-US" sz="13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c>
                  <a:txBody>
                    <a:bodyPr/>
                    <a:lstStyle/>
                    <a:p>
                      <a:pPr indent="0" marL="0">
                        <a:lnSpc>
                          <a:spcPts val="1820"/>
                        </a:lnSpc>
                        <a:buNone/>
                      </a:pPr>
                      <a:r>
                        <a:rPr lang="en-US" sz="1300" b="1" dirty="0">
                          <a:solidFill>
                            <a:srgbClr val="FFFFFF"/>
                          </a:solidFill>
                          <a:latin typeface="DM Sans" pitchFamily="34" charset="0"/>
                          <a:ea typeface="DM Sans" pitchFamily="34" charset="-122"/>
                          <a:cs typeface="DM Sans" pitchFamily="34" charset="-120"/>
                        </a:rPr>
                        <a:t>Por qué no funciona</a:t>
                      </a:r>
                      <a:endParaRPr lang="en-US" sz="1300" dirty="0">
                        <a:latin typeface="DM Sans" charset="0"/>
                        <a:ea typeface="DM Sans" charset="0"/>
                        <a:cs typeface="DM Sans" charset="0"/>
                      </a:endParaRPr>
                    </a:p>
                  </a:txBody>
                  <a:tcPr marL="127000" marR="127000" marT="101600" marB="101600" anchor="t">
                    <a:lnL w="12700" cap="flat" cmpd="sng" algn="ctr">
                      <a:solidFill>
                        <a:srgbClr val="202D37"/>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r>
              <a:tr h="678127">
                <a:tc>
                  <a:txBody>
                    <a:bodyPr/>
                    <a:lstStyle/>
                    <a:p>
                      <a:pPr indent="0" marL="0">
                        <a:lnSpc>
                          <a:spcPts val="1820"/>
                        </a:lnSpc>
                        <a:buNone/>
                      </a:pPr>
                      <a:r>
                        <a:rPr lang="en-US" sz="1300" dirty="0">
                          <a:solidFill>
                            <a:srgbClr val="3C4645"/>
                          </a:solidFill>
                          <a:latin typeface="DM Sans" pitchFamily="34" charset="0"/>
                          <a:ea typeface="DM Sans" pitchFamily="34" charset="-122"/>
                          <a:cs typeface="DM Sans" pitchFamily="34" charset="-120"/>
                        </a:rPr>
                        <a:t>Escritor por encargo</a:t>
                      </a:r>
                      <a:endParaRPr lang="en-US" sz="13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3C4645"/>
                          </a:solidFill>
                          <a:latin typeface="DM Sans" pitchFamily="34" charset="0"/>
                          <a:ea typeface="DM Sans" pitchFamily="34" charset="-122"/>
                          <a:cs typeface="DM Sans" pitchFamily="34" charset="-120"/>
                        </a:rPr>
                        <a:t>Semanas de plazo y un precio fuera del alcance de un regalo</a:t>
                      </a:r>
                      <a:endParaRPr lang="en-US" sz="13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78127">
                <a:tc>
                  <a:txBody>
                    <a:bodyPr/>
                    <a:lstStyle/>
                    <a:p>
                      <a:pPr indent="0" marL="0">
                        <a:lnSpc>
                          <a:spcPts val="1820"/>
                        </a:lnSpc>
                        <a:buNone/>
                      </a:pPr>
                      <a:r>
                        <a:rPr lang="en-US" sz="1300" dirty="0">
                          <a:solidFill>
                            <a:srgbClr val="3C4645"/>
                          </a:solidFill>
                          <a:latin typeface="DM Sans" pitchFamily="34" charset="0"/>
                          <a:ea typeface="DM Sans" pitchFamily="34" charset="-122"/>
                          <a:cs typeface="DM Sans" pitchFamily="34" charset="-120"/>
                        </a:rPr>
                        <a:t>Plantilla con nombres cambiados</a:t>
                      </a:r>
                      <a:endParaRPr lang="en-US" sz="13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3C4645"/>
                          </a:solidFill>
                          <a:latin typeface="DM Sans" pitchFamily="34" charset="0"/>
                          <a:ea typeface="DM Sans" pitchFamily="34" charset="-122"/>
                          <a:cs typeface="DM Sans" pitchFamily="34" charset="-120"/>
                        </a:rPr>
                        <a:t>Historia genérica: el lector nota que no es la suya</a:t>
                      </a:r>
                      <a:endParaRPr lang="en-US" sz="1300" dirty="0">
                        <a:latin typeface="DM Sans" charset="0"/>
                        <a:ea typeface="DM Sans" charset="0"/>
                        <a:cs typeface="DM Sans" charset="0"/>
                      </a:endParaRPr>
                    </a:p>
                  </a:txBody>
                  <a:tcPr marL="127000" marR="127000" marT="101600" marB="1016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909241">
                <a:tc>
                  <a:txBody>
                    <a:bodyPr/>
                    <a:lstStyle/>
                    <a:p>
                      <a:pPr indent="0" marL="0">
                        <a:lnSpc>
                          <a:spcPts val="1820"/>
                        </a:lnSpc>
                        <a:buNone/>
                      </a:pPr>
                      <a:r>
                        <a:rPr lang="en-US" sz="1300" dirty="0">
                          <a:solidFill>
                            <a:srgbClr val="3C4645"/>
                          </a:solidFill>
                          <a:latin typeface="DM Sans" pitchFamily="34" charset="0"/>
                          <a:ea typeface="DM Sans" pitchFamily="34" charset="-122"/>
                          <a:cs typeface="DM Sans" pitchFamily="34" charset="-120"/>
                        </a:rPr>
                        <a:t>Chat genérico con un LLM</a:t>
                      </a:r>
                      <a:endParaRPr lang="en-US" sz="13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3C4645"/>
                          </a:solidFill>
                          <a:latin typeface="DM Sans" pitchFamily="34" charset="0"/>
                          <a:ea typeface="DM Sans" pitchFamily="34" charset="-122"/>
                          <a:cs typeface="DM Sans" pitchFamily="34" charset="-120"/>
                        </a:rPr>
                        <a:t>Pierde la coherencia en novelas largas, sin control de datos personales ni revisiones trazables</a:t>
                      </a:r>
                      <a:endParaRPr lang="en-US" sz="13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23" name="Shape 19"/>
          <p:cNvSpPr/>
          <p:nvPr/>
        </p:nvSpPr>
        <p:spPr>
          <a:xfrm>
            <a:off x="5556250" y="4625049"/>
            <a:ext cx="0" cy="845741"/>
          </a:xfrm>
          <a:prstGeom prst="line">
            <a:avLst/>
          </a:prstGeom>
          <a:noFill/>
          <a:ln w="38100">
            <a:solidFill>
              <a:srgbClr val="FF7932"/>
            </a:solidFill>
            <a:prstDash val="solid"/>
          </a:ln>
        </p:spPr>
      </p:sp>
      <p:sp>
        <p:nvSpPr>
          <p:cNvPr id="24" name="Text 20"/>
          <p:cNvSpPr/>
          <p:nvPr/>
        </p:nvSpPr>
        <p:spPr>
          <a:xfrm>
            <a:off x="5727700" y="4675849"/>
            <a:ext cx="5821045"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3441"/>
                </a:solidFill>
                <a:latin typeface="DM Sans" pitchFamily="34" charset="0"/>
                <a:ea typeface="DM Sans" pitchFamily="34" charset="-122"/>
                <a:cs typeface="DM Sans" pitchFamily="34" charset="-120"/>
              </a:rPr>
              <a:t>La oportunidad</a:t>
            </a:r>
            <a:endParaRPr lang="en-US" sz="1300" dirty="0"/>
          </a:p>
        </p:txBody>
      </p:sp>
      <p:sp>
        <p:nvSpPr>
          <p:cNvPr id="25" name="Text 21"/>
          <p:cNvSpPr/>
          <p:nvPr/>
        </p:nvSpPr>
        <p:spPr>
          <a:xfrm>
            <a:off x="5727700" y="4957763"/>
            <a:ext cx="5821045"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Coherencia de autor, entrega en minutos y precio de regalo, con el cliente final corrigiendo su propia historia.</a:t>
            </a:r>
            <a:endParaRPr lang="en-US" sz="1300" dirty="0"/>
          </a:p>
        </p:txBody>
      </p:sp>
      <p:sp>
        <p:nvSpPr>
          <p:cNvPr id="26" name="Text 22"/>
          <p:cNvSpPr/>
          <p:nvPr/>
        </p:nvSpPr>
        <p:spPr>
          <a:xfrm>
            <a:off x="812800" y="6238280"/>
            <a:ext cx="308800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93A0AB"/>
                </a:solidFill>
                <a:latin typeface="DM Sans" pitchFamily="34" charset="0"/>
                <a:ea typeface="DM Sans" pitchFamily="34" charset="-122"/>
                <a:cs typeface="DM Sans" pitchFamily="34" charset="-120"/>
              </a:rPr>
              <a:t>© Qaracter group, all rights reserved 2026</a:t>
            </a:r>
            <a:endParaRPr lang="en-US" sz="1200" dirty="0"/>
          </a:p>
        </p:txBody>
      </p:sp>
      <p:sp>
        <p:nvSpPr>
          <p:cNvPr id="27" name="Text 23"/>
          <p:cNvSpPr/>
          <p:nvPr/>
        </p:nvSpPr>
        <p:spPr>
          <a:xfrm>
            <a:off x="11184599" y="6238280"/>
            <a:ext cx="24540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3A0AB"/>
                </a:solidFill>
                <a:latin typeface="DM Sans" pitchFamily="34" charset="0"/>
                <a:ea typeface="DM Sans" pitchFamily="34" charset="-122"/>
                <a:cs typeface="DM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1074400" y="762000"/>
            <a:ext cx="304800" cy="304800"/>
          </a:xfrm>
          <a:prstGeom prst="rect">
            <a:avLst/>
          </a:prstGeom>
        </p:spPr>
      </p:pic>
      <p:sp>
        <p:nvSpPr>
          <p:cNvPr id="3" name="Text 0"/>
          <p:cNvSpPr/>
          <p:nvPr/>
        </p:nvSpPr>
        <p:spPr>
          <a:xfrm>
            <a:off x="812800" y="81280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02 · CONFIGURACIÓN Y LECTURA</a:t>
            </a:r>
            <a:endParaRPr lang="en-US" sz="1200" dirty="0"/>
          </a:p>
        </p:txBody>
      </p:sp>
      <p:sp>
        <p:nvSpPr>
          <p:cNvPr id="4" name="Text 1"/>
          <p:cNvSpPr/>
          <p:nvPr/>
        </p:nvSpPr>
        <p:spPr>
          <a:xfrm>
            <a:off x="812800" y="1102320"/>
            <a:ext cx="10203180" cy="416520"/>
          </a:xfrm>
          <a:prstGeom prst="rect">
            <a:avLst/>
          </a:prstGeom>
          <a:noFill/>
          <a:ln/>
        </p:spPr>
        <p:txBody>
          <a:bodyPr wrap="square" lIns="0" tIns="0" rIns="0" bIns="0" rtlCol="0" anchor="t">
            <a:normAutofit/>
          </a:bodyPr>
          <a:lstStyle/>
          <a:p>
            <a:pPr algn="l" indent="0" marL="0">
              <a:lnSpc>
                <a:spcPts val="3080"/>
              </a:lnSpc>
              <a:buNone/>
            </a:pPr>
            <a:r>
              <a:rPr lang="en-US" sz="2800" b="1" spc="-50" kern="0" dirty="0">
                <a:solidFill>
                  <a:srgbClr val="233441"/>
                </a:solidFill>
                <a:latin typeface="DM Sans" pitchFamily="34" charset="0"/>
                <a:ea typeface="DM Sans" pitchFamily="34" charset="-122"/>
                <a:cs typeface="DM Sans" pitchFamily="34" charset="-120"/>
              </a:rPr>
              <a:t>De la entrevista a una novela que el lector corrige</a:t>
            </a:r>
            <a:endParaRPr lang="en-US" sz="2800" dirty="0"/>
          </a:p>
        </p:txBody>
      </p:sp>
      <p:sp>
        <p:nvSpPr>
          <p:cNvPr id="5" name="Shape 2"/>
          <p:cNvSpPr/>
          <p:nvPr/>
        </p:nvSpPr>
        <p:spPr>
          <a:xfrm>
            <a:off x="812800" y="1747441"/>
            <a:ext cx="2527300" cy="2387402"/>
          </a:xfrm>
          <a:prstGeom prst="roundRect">
            <a:avLst>
              <a:gd name="adj" fmla="val 4256"/>
            </a:avLst>
          </a:prstGeom>
          <a:solidFill>
            <a:srgbClr val="F4F6F8"/>
          </a:solidFill>
          <a:ln/>
        </p:spPr>
      </p:sp>
      <p:sp>
        <p:nvSpPr>
          <p:cNvPr id="6" name="Shape 3"/>
          <p:cNvSpPr/>
          <p:nvPr/>
        </p:nvSpPr>
        <p:spPr>
          <a:xfrm>
            <a:off x="812800" y="1747441"/>
            <a:ext cx="2527300" cy="2387402"/>
          </a:xfrm>
          <a:custGeom>
            <a:avLst/>
            <a:gdLst/>
            <a:ahLst/>
            <a:cxnLst/>
            <a:rect l="l" t="t" r="r" b="b"/>
            <a:pathLst>
              <a:path w="2527300" h="2387402">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FF7932"/>
          </a:solidFill>
          <a:ln/>
        </p:spPr>
      </p:sp>
      <p:sp>
        <p:nvSpPr>
          <p:cNvPr id="7" name="Text 4"/>
          <p:cNvSpPr/>
          <p:nvPr/>
        </p:nvSpPr>
        <p:spPr>
          <a:xfrm>
            <a:off x="1016000" y="1988741"/>
            <a:ext cx="218452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F7932"/>
                </a:solidFill>
                <a:latin typeface="DM Sans" pitchFamily="34" charset="0"/>
                <a:ea typeface="DM Sans" pitchFamily="34" charset="-122"/>
                <a:cs typeface="DM Sans" pitchFamily="34" charset="-120"/>
              </a:rPr>
              <a:t>1</a:t>
            </a:r>
            <a:endParaRPr lang="en-US" sz="2800" dirty="0"/>
          </a:p>
        </p:txBody>
      </p:sp>
      <p:sp>
        <p:nvSpPr>
          <p:cNvPr id="8" name="Text 5"/>
          <p:cNvSpPr/>
          <p:nvPr/>
        </p:nvSpPr>
        <p:spPr>
          <a:xfrm>
            <a:off x="1016000" y="2456061"/>
            <a:ext cx="21845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Entrevista</a:t>
            </a:r>
            <a:endParaRPr lang="en-US" sz="1600" dirty="0"/>
          </a:p>
        </p:txBody>
      </p:sp>
      <p:sp>
        <p:nvSpPr>
          <p:cNvPr id="9" name="Text 6"/>
          <p:cNvSpPr/>
          <p:nvPr/>
        </p:nvSpPr>
        <p:spPr>
          <a:xfrm>
            <a:off x="1016000" y="2776076"/>
            <a:ext cx="2184527" cy="11809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Cinco pasos y un repaso: nombre, edad, rasgos, recuerdos, género, tono, extensión y palabras vetadas.</a:t>
            </a:r>
            <a:endParaRPr lang="en-US" sz="1300" dirty="0"/>
          </a:p>
        </p:txBody>
      </p:sp>
      <p:sp>
        <p:nvSpPr>
          <p:cNvPr id="10" name="Shape 7"/>
          <p:cNvSpPr/>
          <p:nvPr/>
        </p:nvSpPr>
        <p:spPr>
          <a:xfrm>
            <a:off x="3492500" y="1747441"/>
            <a:ext cx="2527300" cy="2387402"/>
          </a:xfrm>
          <a:prstGeom prst="roundRect">
            <a:avLst>
              <a:gd name="adj" fmla="val 4256"/>
            </a:avLst>
          </a:prstGeom>
          <a:solidFill>
            <a:srgbClr val="F4F6F8"/>
          </a:solidFill>
          <a:ln/>
        </p:spPr>
      </p:sp>
      <p:sp>
        <p:nvSpPr>
          <p:cNvPr id="11" name="Shape 8"/>
          <p:cNvSpPr/>
          <p:nvPr/>
        </p:nvSpPr>
        <p:spPr>
          <a:xfrm>
            <a:off x="3492500" y="1747441"/>
            <a:ext cx="2527300" cy="2387402"/>
          </a:xfrm>
          <a:custGeom>
            <a:avLst/>
            <a:gdLst/>
            <a:ahLst/>
            <a:cxnLst/>
            <a:rect l="l" t="t" r="r" b="b"/>
            <a:pathLst>
              <a:path w="2527300" h="2387402">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FF7932"/>
          </a:solidFill>
          <a:ln/>
        </p:spPr>
      </p:sp>
      <p:sp>
        <p:nvSpPr>
          <p:cNvPr id="12" name="Text 9"/>
          <p:cNvSpPr/>
          <p:nvPr/>
        </p:nvSpPr>
        <p:spPr>
          <a:xfrm>
            <a:off x="3695700" y="1988741"/>
            <a:ext cx="218452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F7932"/>
                </a:solidFill>
                <a:latin typeface="DM Sans" pitchFamily="34" charset="0"/>
                <a:ea typeface="DM Sans" pitchFamily="34" charset="-122"/>
                <a:cs typeface="DM Sans" pitchFamily="34" charset="-120"/>
              </a:rPr>
              <a:t>2</a:t>
            </a:r>
            <a:endParaRPr lang="en-US" sz="2800" dirty="0"/>
          </a:p>
        </p:txBody>
      </p:sp>
      <p:sp>
        <p:nvSpPr>
          <p:cNvPr id="13" name="Text 10"/>
          <p:cNvSpPr/>
          <p:nvPr/>
        </p:nvSpPr>
        <p:spPr>
          <a:xfrm>
            <a:off x="3695700" y="2456061"/>
            <a:ext cx="21845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Escritura</a:t>
            </a:r>
            <a:endParaRPr lang="en-US" sz="1600" dirty="0"/>
          </a:p>
        </p:txBody>
      </p:sp>
      <p:sp>
        <p:nvSpPr>
          <p:cNvPr id="14" name="Text 11"/>
          <p:cNvSpPr/>
          <p:nvPr/>
        </p:nvSpPr>
        <p:spPr>
          <a:xfrm>
            <a:off x="3695700" y="2776076"/>
            <a:ext cx="218452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El worker redacta escena a escena con Haiku 4.5 y la lectura se actualiza sola.</a:t>
            </a:r>
            <a:endParaRPr lang="en-US" sz="1300" dirty="0"/>
          </a:p>
        </p:txBody>
      </p:sp>
      <p:sp>
        <p:nvSpPr>
          <p:cNvPr id="15" name="Shape 12"/>
          <p:cNvSpPr/>
          <p:nvPr/>
        </p:nvSpPr>
        <p:spPr>
          <a:xfrm>
            <a:off x="6172200" y="1747441"/>
            <a:ext cx="2527300" cy="2387402"/>
          </a:xfrm>
          <a:prstGeom prst="roundRect">
            <a:avLst>
              <a:gd name="adj" fmla="val 4256"/>
            </a:avLst>
          </a:prstGeom>
          <a:solidFill>
            <a:srgbClr val="F4F6F8"/>
          </a:solidFill>
          <a:ln/>
        </p:spPr>
      </p:sp>
      <p:sp>
        <p:nvSpPr>
          <p:cNvPr id="16" name="Shape 13"/>
          <p:cNvSpPr/>
          <p:nvPr/>
        </p:nvSpPr>
        <p:spPr>
          <a:xfrm>
            <a:off x="6172200" y="1747441"/>
            <a:ext cx="2527300" cy="2387402"/>
          </a:xfrm>
          <a:custGeom>
            <a:avLst/>
            <a:gdLst/>
            <a:ahLst/>
            <a:cxnLst/>
            <a:rect l="l" t="t" r="r" b="b"/>
            <a:pathLst>
              <a:path w="2527300" h="2387402">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FF7932"/>
          </a:solidFill>
          <a:ln/>
        </p:spPr>
      </p:sp>
      <p:sp>
        <p:nvSpPr>
          <p:cNvPr id="17" name="Text 14"/>
          <p:cNvSpPr/>
          <p:nvPr/>
        </p:nvSpPr>
        <p:spPr>
          <a:xfrm>
            <a:off x="6375400" y="1988741"/>
            <a:ext cx="218452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F7932"/>
                </a:solidFill>
                <a:latin typeface="DM Sans" pitchFamily="34" charset="0"/>
                <a:ea typeface="DM Sans" pitchFamily="34" charset="-122"/>
                <a:cs typeface="DM Sans" pitchFamily="34" charset="-120"/>
              </a:rPr>
              <a:t>3</a:t>
            </a:r>
            <a:endParaRPr lang="en-US" sz="2800" dirty="0"/>
          </a:p>
        </p:txBody>
      </p:sp>
      <p:sp>
        <p:nvSpPr>
          <p:cNvPr id="18" name="Text 15"/>
          <p:cNvSpPr/>
          <p:nvPr/>
        </p:nvSpPr>
        <p:spPr>
          <a:xfrm>
            <a:off x="6375400" y="2456061"/>
            <a:ext cx="21845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Lectura</a:t>
            </a:r>
            <a:endParaRPr lang="en-US" sz="1600" dirty="0"/>
          </a:p>
        </p:txBody>
      </p:sp>
      <p:sp>
        <p:nvSpPr>
          <p:cNvPr id="19" name="Text 16"/>
          <p:cNvSpPr/>
          <p:nvPr/>
        </p:nvSpPr>
        <p:spPr>
          <a:xfrm>
            <a:off x="6375400" y="2776076"/>
            <a:ext cx="2184527"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Portada con dedicatoria, índice y ficha de personajes y lugares sacada de la story bible.</a:t>
            </a:r>
            <a:endParaRPr lang="en-US" sz="1300" dirty="0"/>
          </a:p>
        </p:txBody>
      </p:sp>
      <p:sp>
        <p:nvSpPr>
          <p:cNvPr id="20" name="Shape 17"/>
          <p:cNvSpPr/>
          <p:nvPr/>
        </p:nvSpPr>
        <p:spPr>
          <a:xfrm>
            <a:off x="8851900" y="1747441"/>
            <a:ext cx="2527300" cy="2387402"/>
          </a:xfrm>
          <a:prstGeom prst="roundRect">
            <a:avLst>
              <a:gd name="adj" fmla="val 4256"/>
            </a:avLst>
          </a:prstGeom>
          <a:solidFill>
            <a:srgbClr val="F4F6F8"/>
          </a:solidFill>
          <a:ln/>
        </p:spPr>
      </p:sp>
      <p:sp>
        <p:nvSpPr>
          <p:cNvPr id="21" name="Shape 18"/>
          <p:cNvSpPr/>
          <p:nvPr/>
        </p:nvSpPr>
        <p:spPr>
          <a:xfrm>
            <a:off x="8851900" y="1747441"/>
            <a:ext cx="2527300" cy="2387402"/>
          </a:xfrm>
          <a:custGeom>
            <a:avLst/>
            <a:gdLst/>
            <a:ahLst/>
            <a:cxnLst/>
            <a:rect l="l" t="t" r="r" b="b"/>
            <a:pathLst>
              <a:path w="2527300" h="2387402">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FF7932"/>
          </a:solidFill>
          <a:ln/>
        </p:spPr>
      </p:sp>
      <p:sp>
        <p:nvSpPr>
          <p:cNvPr id="22" name="Text 19"/>
          <p:cNvSpPr/>
          <p:nvPr/>
        </p:nvSpPr>
        <p:spPr>
          <a:xfrm>
            <a:off x="9055100" y="1988741"/>
            <a:ext cx="218452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F7932"/>
                </a:solidFill>
                <a:latin typeface="DM Sans" pitchFamily="34" charset="0"/>
                <a:ea typeface="DM Sans" pitchFamily="34" charset="-122"/>
                <a:cs typeface="DM Sans" pitchFamily="34" charset="-120"/>
              </a:rPr>
              <a:t>4</a:t>
            </a:r>
            <a:endParaRPr lang="en-US" sz="2800" dirty="0"/>
          </a:p>
        </p:txBody>
      </p:sp>
      <p:sp>
        <p:nvSpPr>
          <p:cNvPr id="23" name="Text 20"/>
          <p:cNvSpPr/>
          <p:nvPr/>
        </p:nvSpPr>
        <p:spPr>
          <a:xfrm>
            <a:off x="9055100" y="2456061"/>
            <a:ext cx="21845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Cambio</a:t>
            </a:r>
            <a:endParaRPr lang="en-US" sz="1600" dirty="0"/>
          </a:p>
        </p:txBody>
      </p:sp>
      <p:sp>
        <p:nvSpPr>
          <p:cNvPr id="24" name="Text 21"/>
          <p:cNvSpPr/>
          <p:nvPr/>
        </p:nvSpPr>
        <p:spPr>
          <a:xfrm>
            <a:off x="9055100" y="2776076"/>
            <a:ext cx="218452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«Pedir un cambio» sobre un hecho regenera solo los capítulos que lo usan.</a:t>
            </a:r>
            <a:endParaRPr lang="en-US" sz="1300" dirty="0"/>
          </a:p>
        </p:txBody>
      </p:sp>
      <p:sp>
        <p:nvSpPr>
          <p:cNvPr id="25" name="Shape 22"/>
          <p:cNvSpPr/>
          <p:nvPr/>
        </p:nvSpPr>
        <p:spPr>
          <a:xfrm>
            <a:off x="819150" y="4395192"/>
            <a:ext cx="5194300" cy="1175941"/>
          </a:xfrm>
          <a:prstGeom prst="roundRect">
            <a:avLst>
              <a:gd name="adj" fmla="val 8100"/>
            </a:avLst>
          </a:prstGeom>
          <a:noFill/>
          <a:ln w="12700">
            <a:solidFill>
              <a:srgbClr val="E6EAEE"/>
            </a:solidFill>
            <a:prstDash val="solid"/>
          </a:ln>
        </p:spPr>
      </p:sp>
      <p:pic>
        <p:nvPicPr>
          <p:cNvPr id="26" name="Image 1" descr="Globe">    </p:cNvPr>
          <p:cNvPicPr>
            <a:picLocks noChangeAspect="1"/>
          </p:cNvPicPr>
          <p:nvPr/>
        </p:nvPicPr>
        <p:blipFill>
          <a:blip r:embed="rId2"/>
          <a:srcRect l="0" r="0" t="0" b="0"/>
          <a:stretch/>
        </p:blipFill>
        <p:spPr>
          <a:xfrm>
            <a:off x="1028700" y="4604742"/>
            <a:ext cx="304800" cy="304800"/>
          </a:xfrm>
          <a:prstGeom prst="rect">
            <a:avLst/>
          </a:prstGeom>
        </p:spPr>
      </p:pic>
      <p:sp>
        <p:nvSpPr>
          <p:cNvPr id="27" name="Text 23"/>
          <p:cNvSpPr/>
          <p:nvPr/>
        </p:nvSpPr>
        <p:spPr>
          <a:xfrm>
            <a:off x="1485900" y="4604742"/>
            <a:ext cx="44475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Web</a:t>
            </a:r>
            <a:endParaRPr lang="en-US" sz="1600" dirty="0"/>
          </a:p>
        </p:txBody>
      </p:sp>
      <p:sp>
        <p:nvSpPr>
          <p:cNvPr id="28" name="Text 24"/>
          <p:cNvSpPr/>
          <p:nvPr/>
        </p:nvSpPr>
        <p:spPr>
          <a:xfrm>
            <a:off x="1485900" y="4899357"/>
            <a:ext cx="444754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El índice marca los capítulos cambiados en cada versión y la pestaña Gastos muestra el coste por rol y capítulo.</a:t>
            </a:r>
            <a:endParaRPr lang="en-US" sz="1300" dirty="0"/>
          </a:p>
        </p:txBody>
      </p:sp>
      <p:sp>
        <p:nvSpPr>
          <p:cNvPr id="29" name="Shape 25"/>
          <p:cNvSpPr/>
          <p:nvPr/>
        </p:nvSpPr>
        <p:spPr>
          <a:xfrm>
            <a:off x="6178550" y="4395192"/>
            <a:ext cx="5194300" cy="1175941"/>
          </a:xfrm>
          <a:prstGeom prst="roundRect">
            <a:avLst>
              <a:gd name="adj" fmla="val 8100"/>
            </a:avLst>
          </a:prstGeom>
          <a:noFill/>
          <a:ln w="12700">
            <a:solidFill>
              <a:srgbClr val="E6EAEE"/>
            </a:solidFill>
            <a:prstDash val="solid"/>
          </a:ln>
        </p:spPr>
      </p:sp>
      <p:pic>
        <p:nvPicPr>
          <p:cNvPr id="30" name="Image 2" descr="Book">    </p:cNvPr>
          <p:cNvPicPr>
            <a:picLocks noChangeAspect="1"/>
          </p:cNvPicPr>
          <p:nvPr/>
        </p:nvPicPr>
        <p:blipFill>
          <a:blip r:embed="rId3"/>
          <a:srcRect l="0" r="0" t="0" b="0"/>
          <a:stretch/>
        </p:blipFill>
        <p:spPr>
          <a:xfrm>
            <a:off x="6388100" y="4604742"/>
            <a:ext cx="304800" cy="304800"/>
          </a:xfrm>
          <a:prstGeom prst="rect">
            <a:avLst/>
          </a:prstGeom>
        </p:spPr>
      </p:pic>
      <p:sp>
        <p:nvSpPr>
          <p:cNvPr id="31" name="Text 26"/>
          <p:cNvSpPr/>
          <p:nvPr/>
        </p:nvSpPr>
        <p:spPr>
          <a:xfrm>
            <a:off x="6845300" y="4604742"/>
            <a:ext cx="44475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PDF</a:t>
            </a:r>
            <a:endParaRPr lang="en-US" sz="1600" dirty="0"/>
          </a:p>
        </p:txBody>
      </p:sp>
      <p:sp>
        <p:nvSpPr>
          <p:cNvPr id="32" name="Text 27"/>
          <p:cNvSpPr/>
          <p:nvPr/>
        </p:nvSpPr>
        <p:spPr>
          <a:xfrm>
            <a:off x="6845300" y="4899357"/>
            <a:ext cx="444754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Portada, novedades de la versión, índice navegable, ficha y capítulos maquetados.</a:t>
            </a:r>
            <a:endParaRPr lang="en-US" sz="1300" dirty="0"/>
          </a:p>
        </p:txBody>
      </p:sp>
      <p:sp>
        <p:nvSpPr>
          <p:cNvPr id="33" name="Text 28"/>
          <p:cNvSpPr/>
          <p:nvPr/>
        </p:nvSpPr>
        <p:spPr>
          <a:xfrm>
            <a:off x="812800" y="6238280"/>
            <a:ext cx="308800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93A0AB"/>
                </a:solidFill>
                <a:latin typeface="DM Sans" pitchFamily="34" charset="0"/>
                <a:ea typeface="DM Sans" pitchFamily="34" charset="-122"/>
                <a:cs typeface="DM Sans" pitchFamily="34" charset="-120"/>
              </a:rPr>
              <a:t>© Qaracter group, all rights reserved 2026</a:t>
            </a:r>
            <a:endParaRPr lang="en-US" sz="1200" dirty="0"/>
          </a:p>
        </p:txBody>
      </p:sp>
      <p:sp>
        <p:nvSpPr>
          <p:cNvPr id="34" name="Text 29"/>
          <p:cNvSpPr/>
          <p:nvPr/>
        </p:nvSpPr>
        <p:spPr>
          <a:xfrm>
            <a:off x="11179969" y="6238280"/>
            <a:ext cx="2500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3A0AB"/>
                </a:solidFill>
                <a:latin typeface="DM Sans" pitchFamily="34" charset="0"/>
                <a:ea typeface="DM Sans" pitchFamily="34" charset="-122"/>
                <a:cs typeface="DM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1074400" y="762000"/>
            <a:ext cx="304800" cy="304800"/>
          </a:xfrm>
          <a:prstGeom prst="rect">
            <a:avLst/>
          </a:prstGeom>
        </p:spPr>
      </p:pic>
      <p:sp>
        <p:nvSpPr>
          <p:cNvPr id="3" name="Text 0"/>
          <p:cNvSpPr/>
          <p:nvPr/>
        </p:nvSpPr>
        <p:spPr>
          <a:xfrm>
            <a:off x="812800" y="81280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03 · ARQUITECTURA DEL HARNESS</a:t>
            </a:r>
            <a:endParaRPr lang="en-US" sz="1200" dirty="0"/>
          </a:p>
        </p:txBody>
      </p:sp>
      <p:sp>
        <p:nvSpPr>
          <p:cNvPr id="4" name="Text 1"/>
          <p:cNvSpPr/>
          <p:nvPr/>
        </p:nvSpPr>
        <p:spPr>
          <a:xfrm>
            <a:off x="812800" y="1102320"/>
            <a:ext cx="10203180" cy="416520"/>
          </a:xfrm>
          <a:prstGeom prst="rect">
            <a:avLst/>
          </a:prstGeom>
          <a:noFill/>
          <a:ln/>
        </p:spPr>
        <p:txBody>
          <a:bodyPr wrap="square" lIns="0" tIns="0" rIns="0" bIns="0" rtlCol="0" anchor="t">
            <a:normAutofit/>
          </a:bodyPr>
          <a:lstStyle/>
          <a:p>
            <a:pPr algn="l" indent="0" marL="0">
              <a:lnSpc>
                <a:spcPts val="3080"/>
              </a:lnSpc>
              <a:buNone/>
            </a:pPr>
            <a:r>
              <a:rPr lang="en-US" sz="2800" b="1" spc="-50" kern="0" dirty="0">
                <a:solidFill>
                  <a:srgbClr val="233441"/>
                </a:solidFill>
                <a:latin typeface="DM Sans" pitchFamily="34" charset="0"/>
                <a:ea typeface="DM Sans" pitchFamily="34" charset="-122"/>
                <a:cs typeface="DM Sans" pitchFamily="34" charset="-120"/>
              </a:rPr>
              <a:t>Roles y bucle de escritura</a:t>
            </a:r>
            <a:endParaRPr lang="en-US" sz="2800" dirty="0"/>
          </a:p>
        </p:txBody>
      </p:sp>
      <p:sp>
        <p:nvSpPr>
          <p:cNvPr id="5" name="Text 2"/>
          <p:cNvSpPr/>
          <p:nvPr/>
        </p:nvSpPr>
        <p:spPr>
          <a:xfrm>
            <a:off x="4953000" y="1701800"/>
            <a:ext cx="66189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DM Sans" pitchFamily="34" charset="0"/>
                <a:ea typeface="DM Sans" pitchFamily="34" charset="-122"/>
                <a:cs typeface="DM Sans" pitchFamily="34" charset="-120"/>
              </a:rPr>
              <a:t>Ningún rol llama a otro: todas las flechas pasan por el orquestador.</a:t>
            </a:r>
            <a:endParaRPr lang="en-US" sz="1200" dirty="0"/>
          </a:p>
        </p:txBody>
      </p:sp>
      <p:pic>
        <p:nvPicPr>
          <p:cNvPr id="6" name="Image 1" descr="connector">    </p:cNvPr>
          <p:cNvPicPr>
            <a:picLocks noChangeAspect="1"/>
          </p:cNvPicPr>
          <p:nvPr/>
        </p:nvPicPr>
        <p:blipFill>
          <a:blip r:embed="rId2"/>
          <a:srcRect l="0" r="0" t="0" b="0"/>
          <a:stretch/>
        </p:blipFill>
        <p:spPr>
          <a:xfrm>
            <a:off x="2286000" y="3632200"/>
            <a:ext cx="431800" cy="101600"/>
          </a:xfrm>
          <a:prstGeom prst="rect">
            <a:avLst/>
          </a:prstGeom>
        </p:spPr>
      </p:pic>
      <p:pic>
        <p:nvPicPr>
          <p:cNvPr id="7" name="Image 2" descr="connector">    </p:cNvPr>
          <p:cNvPicPr>
            <a:picLocks noChangeAspect="1"/>
          </p:cNvPicPr>
          <p:nvPr/>
        </p:nvPicPr>
        <p:blipFill>
          <a:blip r:embed="rId3"/>
          <a:srcRect l="0" r="0" t="0" b="0"/>
          <a:stretch/>
        </p:blipFill>
        <p:spPr>
          <a:xfrm>
            <a:off x="4267200" y="2743200"/>
            <a:ext cx="736600" cy="736600"/>
          </a:xfrm>
          <a:prstGeom prst="rect">
            <a:avLst/>
          </a:prstGeom>
        </p:spPr>
      </p:pic>
      <p:pic>
        <p:nvPicPr>
          <p:cNvPr id="8" name="Image 3" descr="connector">    </p:cNvPr>
          <p:cNvPicPr>
            <a:picLocks noChangeAspect="1"/>
          </p:cNvPicPr>
          <p:nvPr/>
        </p:nvPicPr>
        <p:blipFill>
          <a:blip r:embed="rId4"/>
          <a:srcRect l="0" r="0" t="0" b="0"/>
          <a:stretch/>
        </p:blipFill>
        <p:spPr>
          <a:xfrm>
            <a:off x="6680200" y="2362200"/>
            <a:ext cx="863600" cy="101600"/>
          </a:xfrm>
          <a:prstGeom prst="rect">
            <a:avLst/>
          </a:prstGeom>
        </p:spPr>
      </p:pic>
      <p:pic>
        <p:nvPicPr>
          <p:cNvPr id="9" name="Image 4" descr="connector">    </p:cNvPr>
          <p:cNvPicPr>
            <a:picLocks noChangeAspect="1"/>
          </p:cNvPicPr>
          <p:nvPr/>
        </p:nvPicPr>
        <p:blipFill>
          <a:blip r:embed="rId5"/>
          <a:srcRect l="0" r="0" t="0" b="0"/>
          <a:stretch/>
        </p:blipFill>
        <p:spPr>
          <a:xfrm>
            <a:off x="6680200" y="2679700"/>
            <a:ext cx="863600" cy="101600"/>
          </a:xfrm>
          <a:prstGeom prst="rect">
            <a:avLst/>
          </a:prstGeom>
        </p:spPr>
      </p:pic>
      <p:pic>
        <p:nvPicPr>
          <p:cNvPr id="10" name="Image 5" descr="connector">    </p:cNvPr>
          <p:cNvPicPr>
            <a:picLocks noChangeAspect="1"/>
          </p:cNvPicPr>
          <p:nvPr/>
        </p:nvPicPr>
        <p:blipFill>
          <a:blip r:embed="rId6"/>
          <a:srcRect l="0" r="0" t="0" b="0"/>
          <a:stretch/>
        </p:blipFill>
        <p:spPr>
          <a:xfrm>
            <a:off x="8331200" y="2870200"/>
            <a:ext cx="101600" cy="1625600"/>
          </a:xfrm>
          <a:prstGeom prst="rect">
            <a:avLst/>
          </a:prstGeom>
        </p:spPr>
      </p:pic>
      <p:pic>
        <p:nvPicPr>
          <p:cNvPr id="11" name="Image 6" descr="connector">    </p:cNvPr>
          <p:cNvPicPr>
            <a:picLocks noChangeAspect="1"/>
          </p:cNvPicPr>
          <p:nvPr/>
        </p:nvPicPr>
        <p:blipFill>
          <a:blip r:embed="rId7"/>
          <a:srcRect l="0" r="0" t="0" b="0"/>
          <a:stretch/>
        </p:blipFill>
        <p:spPr>
          <a:xfrm>
            <a:off x="6680200" y="4775200"/>
            <a:ext cx="863600" cy="101600"/>
          </a:xfrm>
          <a:prstGeom prst="rect">
            <a:avLst/>
          </a:prstGeom>
        </p:spPr>
      </p:pic>
      <p:pic>
        <p:nvPicPr>
          <p:cNvPr id="12" name="Image 7" descr="connector">    </p:cNvPr>
          <p:cNvPicPr>
            <a:picLocks noChangeAspect="1"/>
          </p:cNvPicPr>
          <p:nvPr/>
        </p:nvPicPr>
        <p:blipFill>
          <a:blip r:embed="rId8"/>
          <a:srcRect l="0" r="0" t="0" b="0"/>
          <a:stretch/>
        </p:blipFill>
        <p:spPr>
          <a:xfrm>
            <a:off x="5791200" y="2870200"/>
            <a:ext cx="101600" cy="1625600"/>
          </a:xfrm>
          <a:prstGeom prst="rect">
            <a:avLst/>
          </a:prstGeom>
        </p:spPr>
      </p:pic>
      <p:pic>
        <p:nvPicPr>
          <p:cNvPr id="13" name="Image 8" descr="connector">    </p:cNvPr>
          <p:cNvPicPr>
            <a:picLocks noChangeAspect="1"/>
          </p:cNvPicPr>
          <p:nvPr/>
        </p:nvPicPr>
        <p:blipFill>
          <a:blip r:embed="rId9"/>
          <a:srcRect l="0" r="0" t="0" b="0"/>
          <a:stretch/>
        </p:blipFill>
        <p:spPr>
          <a:xfrm>
            <a:off x="9220200" y="4013200"/>
            <a:ext cx="990600" cy="736600"/>
          </a:xfrm>
          <a:prstGeom prst="rect">
            <a:avLst/>
          </a:prstGeom>
        </p:spPr>
      </p:pic>
      <p:pic>
        <p:nvPicPr>
          <p:cNvPr id="14" name="Image 9" descr="connector">    </p:cNvPr>
          <p:cNvPicPr>
            <a:picLocks noChangeAspect="1"/>
          </p:cNvPicPr>
          <p:nvPr/>
        </p:nvPicPr>
        <p:blipFill>
          <a:blip r:embed="rId10"/>
          <a:srcRect l="0" r="0" t="0" b="0"/>
          <a:stretch/>
        </p:blipFill>
        <p:spPr>
          <a:xfrm>
            <a:off x="10591800" y="4013200"/>
            <a:ext cx="101600" cy="1625600"/>
          </a:xfrm>
          <a:prstGeom prst="rect">
            <a:avLst/>
          </a:prstGeom>
        </p:spPr>
      </p:pic>
      <p:pic>
        <p:nvPicPr>
          <p:cNvPr id="15" name="Image 10" descr="connector">    </p:cNvPr>
          <p:cNvPicPr>
            <a:picLocks noChangeAspect="1"/>
          </p:cNvPicPr>
          <p:nvPr/>
        </p:nvPicPr>
        <p:blipFill>
          <a:blip r:embed="rId11"/>
          <a:srcRect l="0" r="0" t="0" b="0"/>
          <a:stretch/>
        </p:blipFill>
        <p:spPr>
          <a:xfrm>
            <a:off x="3441700" y="5537200"/>
            <a:ext cx="7251700" cy="101600"/>
          </a:xfrm>
          <a:prstGeom prst="rect">
            <a:avLst/>
          </a:prstGeom>
        </p:spPr>
      </p:pic>
      <p:pic>
        <p:nvPicPr>
          <p:cNvPr id="16" name="Image 11" descr="connector">    </p:cNvPr>
          <p:cNvPicPr>
            <a:picLocks noChangeAspect="1"/>
          </p:cNvPicPr>
          <p:nvPr/>
        </p:nvPicPr>
        <p:blipFill>
          <a:blip r:embed="rId12"/>
          <a:srcRect l="0" r="0" t="0" b="0"/>
          <a:stretch/>
        </p:blipFill>
        <p:spPr>
          <a:xfrm>
            <a:off x="3441700" y="4013200"/>
            <a:ext cx="101600" cy="1625600"/>
          </a:xfrm>
          <a:prstGeom prst="rect">
            <a:avLst/>
          </a:prstGeom>
        </p:spPr>
      </p:pic>
      <p:sp>
        <p:nvSpPr>
          <p:cNvPr id="17" name="Shape 3"/>
          <p:cNvSpPr/>
          <p:nvPr/>
        </p:nvSpPr>
        <p:spPr>
          <a:xfrm>
            <a:off x="819150" y="3308350"/>
            <a:ext cx="1511300" cy="749300"/>
          </a:xfrm>
          <a:prstGeom prst="roundRect">
            <a:avLst>
              <a:gd name="adj" fmla="val 9322"/>
            </a:avLst>
          </a:prstGeom>
          <a:solidFill>
            <a:srgbClr val="FFFFFF"/>
          </a:solidFill>
          <a:ln w="12700">
            <a:solidFill>
              <a:srgbClr val="233441"/>
            </a:solidFill>
            <a:prstDash val="solid"/>
          </a:ln>
        </p:spPr>
      </p:sp>
      <p:sp>
        <p:nvSpPr>
          <p:cNvPr id="18" name="Text 4"/>
          <p:cNvSpPr/>
          <p:nvPr/>
        </p:nvSpPr>
        <p:spPr>
          <a:xfrm>
            <a:off x="982266" y="3439187"/>
            <a:ext cx="1235869"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3441"/>
                </a:solidFill>
                <a:latin typeface="DM Sans" pitchFamily="34" charset="0"/>
                <a:ea typeface="DM Sans" pitchFamily="34" charset="-122"/>
                <a:cs typeface="DM Sans" pitchFamily="34" charset="-120"/>
              </a:rPr>
              <a:t>Entrevistador</a:t>
            </a:r>
            <a:endParaRPr lang="en-US" sz="1400" dirty="0"/>
          </a:p>
        </p:txBody>
      </p:sp>
      <p:sp>
        <p:nvSpPr>
          <p:cNvPr id="19" name="Text 5"/>
          <p:cNvSpPr/>
          <p:nvPr/>
        </p:nvSpPr>
        <p:spPr>
          <a:xfrm>
            <a:off x="1093920" y="3713494"/>
            <a:ext cx="10124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brief validado</a:t>
            </a:r>
            <a:endParaRPr lang="en-US" sz="1200" dirty="0"/>
          </a:p>
        </p:txBody>
      </p:sp>
      <p:sp>
        <p:nvSpPr>
          <p:cNvPr id="20" name="Shape 6"/>
          <p:cNvSpPr/>
          <p:nvPr/>
        </p:nvSpPr>
        <p:spPr>
          <a:xfrm>
            <a:off x="2673350" y="3308350"/>
            <a:ext cx="1638300" cy="749300"/>
          </a:xfrm>
          <a:prstGeom prst="roundRect">
            <a:avLst>
              <a:gd name="adj" fmla="val 9322"/>
            </a:avLst>
          </a:prstGeom>
          <a:solidFill>
            <a:srgbClr val="FFFFFF"/>
          </a:solidFill>
          <a:ln w="12700">
            <a:solidFill>
              <a:srgbClr val="233441"/>
            </a:solidFill>
            <a:prstDash val="solid"/>
          </a:ln>
        </p:spPr>
      </p:sp>
      <p:sp>
        <p:nvSpPr>
          <p:cNvPr id="21" name="Text 7"/>
          <p:cNvSpPr/>
          <p:nvPr/>
        </p:nvSpPr>
        <p:spPr>
          <a:xfrm>
            <a:off x="3162498" y="3439187"/>
            <a:ext cx="710803"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3441"/>
                </a:solidFill>
                <a:latin typeface="DM Sans" pitchFamily="34" charset="0"/>
                <a:ea typeface="DM Sans" pitchFamily="34" charset="-122"/>
                <a:cs typeface="DM Sans" pitchFamily="34" charset="-120"/>
              </a:rPr>
              <a:t>Planner</a:t>
            </a:r>
            <a:endParaRPr lang="en-US" sz="1400" dirty="0"/>
          </a:p>
        </p:txBody>
      </p:sp>
      <p:sp>
        <p:nvSpPr>
          <p:cNvPr id="22" name="Text 8"/>
          <p:cNvSpPr/>
          <p:nvPr/>
        </p:nvSpPr>
        <p:spPr>
          <a:xfrm>
            <a:off x="2959232" y="3713494"/>
            <a:ext cx="11173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escaleta + DAG</a:t>
            </a:r>
            <a:endParaRPr lang="en-US" sz="1200" dirty="0"/>
          </a:p>
        </p:txBody>
      </p:sp>
      <p:sp>
        <p:nvSpPr>
          <p:cNvPr id="23" name="Shape 9"/>
          <p:cNvSpPr/>
          <p:nvPr/>
        </p:nvSpPr>
        <p:spPr>
          <a:xfrm>
            <a:off x="4959350" y="2165350"/>
            <a:ext cx="1765300" cy="749300"/>
          </a:xfrm>
          <a:prstGeom prst="roundRect">
            <a:avLst>
              <a:gd name="adj" fmla="val 9322"/>
            </a:avLst>
          </a:prstGeom>
          <a:solidFill>
            <a:srgbClr val="FFFFFF"/>
          </a:solidFill>
          <a:ln w="12700">
            <a:solidFill>
              <a:srgbClr val="233441"/>
            </a:solidFill>
            <a:prstDash val="solid"/>
          </a:ln>
        </p:spPr>
      </p:sp>
      <p:sp>
        <p:nvSpPr>
          <p:cNvPr id="24" name="Text 10"/>
          <p:cNvSpPr/>
          <p:nvPr/>
        </p:nvSpPr>
        <p:spPr>
          <a:xfrm>
            <a:off x="5443405" y="2296187"/>
            <a:ext cx="84799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3441"/>
                </a:solidFill>
                <a:latin typeface="DM Sans" pitchFamily="34" charset="0"/>
                <a:ea typeface="DM Sans" pitchFamily="34" charset="-122"/>
                <a:cs typeface="DM Sans" pitchFamily="34" charset="-120"/>
              </a:rPr>
              <a:t>Redactor</a:t>
            </a:r>
            <a:endParaRPr lang="en-US" sz="1400" dirty="0"/>
          </a:p>
        </p:txBody>
      </p:sp>
      <p:sp>
        <p:nvSpPr>
          <p:cNvPr id="25" name="Text 11"/>
          <p:cNvSpPr/>
          <p:nvPr/>
        </p:nvSpPr>
        <p:spPr>
          <a:xfrm>
            <a:off x="5520201" y="2570494"/>
            <a:ext cx="6943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Haiku 4.5</a:t>
            </a:r>
            <a:endParaRPr lang="en-US" sz="1200" dirty="0"/>
          </a:p>
        </p:txBody>
      </p:sp>
      <p:sp>
        <p:nvSpPr>
          <p:cNvPr id="26" name="Shape 12"/>
          <p:cNvSpPr/>
          <p:nvPr/>
        </p:nvSpPr>
        <p:spPr>
          <a:xfrm>
            <a:off x="7493000" y="2159000"/>
            <a:ext cx="1778000" cy="762000"/>
          </a:xfrm>
          <a:prstGeom prst="roundRect">
            <a:avLst>
              <a:gd name="adj" fmla="val 10000"/>
            </a:avLst>
          </a:prstGeom>
          <a:solidFill>
            <a:srgbClr val="233441"/>
          </a:solidFill>
          <a:ln/>
        </p:spPr>
      </p:sp>
      <p:sp>
        <p:nvSpPr>
          <p:cNvPr id="27" name="Text 13"/>
          <p:cNvSpPr/>
          <p:nvPr/>
        </p:nvSpPr>
        <p:spPr>
          <a:xfrm>
            <a:off x="7757782" y="2296187"/>
            <a:ext cx="129923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DM Sans" pitchFamily="34" charset="0"/>
                <a:ea typeface="DM Sans" pitchFamily="34" charset="-122"/>
                <a:cs typeface="DM Sans" pitchFamily="34" charset="-120"/>
              </a:rPr>
              <a:t>Hooks + Editor</a:t>
            </a:r>
            <a:endParaRPr lang="en-US" sz="1400" dirty="0"/>
          </a:p>
        </p:txBody>
      </p:sp>
      <p:sp>
        <p:nvSpPr>
          <p:cNvPr id="28" name="Text 14"/>
          <p:cNvSpPr/>
          <p:nvPr/>
        </p:nvSpPr>
        <p:spPr>
          <a:xfrm>
            <a:off x="7826772" y="2570494"/>
            <a:ext cx="11611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9"/>
                </a:solidFill>
                <a:latin typeface="DM Sans" pitchFamily="34" charset="0"/>
                <a:ea typeface="DM Sans" pitchFamily="34" charset="-122"/>
                <a:cs typeface="DM Sans" pitchFamily="34" charset="-120"/>
              </a:rPr>
              <a:t>capítulo · policy</a:t>
            </a:r>
            <a:endParaRPr lang="en-US" sz="1200" dirty="0"/>
          </a:p>
        </p:txBody>
      </p:sp>
      <p:sp>
        <p:nvSpPr>
          <p:cNvPr id="29" name="Shape 15"/>
          <p:cNvSpPr/>
          <p:nvPr/>
        </p:nvSpPr>
        <p:spPr>
          <a:xfrm>
            <a:off x="4959350" y="4451350"/>
            <a:ext cx="1765300" cy="749300"/>
          </a:xfrm>
          <a:prstGeom prst="roundRect">
            <a:avLst>
              <a:gd name="adj" fmla="val 9322"/>
            </a:avLst>
          </a:prstGeom>
          <a:solidFill>
            <a:srgbClr val="FFF1E8"/>
          </a:solidFill>
          <a:ln w="12700">
            <a:solidFill>
              <a:srgbClr val="FF7932"/>
            </a:solidFill>
            <a:prstDash val="solid"/>
          </a:ln>
        </p:spPr>
      </p:sp>
      <p:sp>
        <p:nvSpPr>
          <p:cNvPr id="30" name="Text 16"/>
          <p:cNvSpPr/>
          <p:nvPr/>
        </p:nvSpPr>
        <p:spPr>
          <a:xfrm>
            <a:off x="5367734" y="4582187"/>
            <a:ext cx="99926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3441"/>
                </a:solidFill>
                <a:latin typeface="DM Sans" pitchFamily="34" charset="0"/>
                <a:ea typeface="DM Sans" pitchFamily="34" charset="-122"/>
                <a:cs typeface="DM Sans" pitchFamily="34" charset="-120"/>
              </a:rPr>
              <a:t>Story bible</a:t>
            </a:r>
            <a:endParaRPr lang="en-US" sz="1400" dirty="0"/>
          </a:p>
        </p:txBody>
      </p:sp>
      <p:sp>
        <p:nvSpPr>
          <p:cNvPr id="31" name="Text 17"/>
          <p:cNvSpPr/>
          <p:nvPr/>
        </p:nvSpPr>
        <p:spPr>
          <a:xfrm>
            <a:off x="5263026" y="4856494"/>
            <a:ext cx="12087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canon en SQLite</a:t>
            </a:r>
            <a:endParaRPr lang="en-US" sz="1200" dirty="0"/>
          </a:p>
        </p:txBody>
      </p:sp>
      <p:sp>
        <p:nvSpPr>
          <p:cNvPr id="32" name="Shape 18"/>
          <p:cNvSpPr/>
          <p:nvPr/>
        </p:nvSpPr>
        <p:spPr>
          <a:xfrm>
            <a:off x="7499350" y="4451350"/>
            <a:ext cx="1765300" cy="749300"/>
          </a:xfrm>
          <a:prstGeom prst="roundRect">
            <a:avLst>
              <a:gd name="adj" fmla="val 9322"/>
            </a:avLst>
          </a:prstGeom>
          <a:solidFill>
            <a:srgbClr val="FFFFFF"/>
          </a:solidFill>
          <a:ln w="12700">
            <a:solidFill>
              <a:srgbClr val="233441"/>
            </a:solidFill>
            <a:prstDash val="solid"/>
          </a:ln>
        </p:spPr>
      </p:sp>
      <p:sp>
        <p:nvSpPr>
          <p:cNvPr id="33" name="Text 19"/>
          <p:cNvSpPr/>
          <p:nvPr/>
        </p:nvSpPr>
        <p:spPr>
          <a:xfrm>
            <a:off x="7872942" y="4582187"/>
            <a:ext cx="1068917"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3441"/>
                </a:solidFill>
                <a:latin typeface="DM Sans" pitchFamily="34" charset="0"/>
                <a:ea typeface="DM Sans" pitchFamily="34" charset="-122"/>
                <a:cs typeface="DM Sans" pitchFamily="34" charset="-120"/>
              </a:rPr>
              <a:t>Publicación</a:t>
            </a:r>
            <a:endParaRPr lang="en-US" sz="1400" dirty="0"/>
          </a:p>
        </p:txBody>
      </p:sp>
      <p:sp>
        <p:nvSpPr>
          <p:cNvPr id="34" name="Text 20"/>
          <p:cNvSpPr/>
          <p:nvPr/>
        </p:nvSpPr>
        <p:spPr>
          <a:xfrm>
            <a:off x="7889280" y="4856494"/>
            <a:ext cx="1036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puertas y PDF</a:t>
            </a:r>
            <a:endParaRPr lang="en-US" sz="1200" dirty="0"/>
          </a:p>
        </p:txBody>
      </p:sp>
      <p:sp>
        <p:nvSpPr>
          <p:cNvPr id="35" name="Shape 21"/>
          <p:cNvSpPr/>
          <p:nvPr/>
        </p:nvSpPr>
        <p:spPr>
          <a:xfrm>
            <a:off x="9912350" y="3308350"/>
            <a:ext cx="1460500" cy="749300"/>
          </a:xfrm>
          <a:prstGeom prst="roundRect">
            <a:avLst>
              <a:gd name="adj" fmla="val 9322"/>
            </a:avLst>
          </a:prstGeom>
          <a:solidFill>
            <a:srgbClr val="F4F6F8"/>
          </a:solidFill>
          <a:ln w="12700">
            <a:solidFill>
              <a:srgbClr val="233441"/>
            </a:solidFill>
            <a:prstDash val="solid"/>
          </a:ln>
        </p:spPr>
      </p:sp>
      <p:sp>
        <p:nvSpPr>
          <p:cNvPr id="36" name="Text 22"/>
          <p:cNvSpPr/>
          <p:nvPr/>
        </p:nvSpPr>
        <p:spPr>
          <a:xfrm>
            <a:off x="10359959" y="3439187"/>
            <a:ext cx="61601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3441"/>
                </a:solidFill>
                <a:latin typeface="DM Sans" pitchFamily="34" charset="0"/>
                <a:ea typeface="DM Sans" pitchFamily="34" charset="-122"/>
                <a:cs typeface="DM Sans" pitchFamily="34" charset="-120"/>
              </a:rPr>
              <a:t>Lector</a:t>
            </a:r>
            <a:endParaRPr lang="en-US" sz="1400" dirty="0"/>
          </a:p>
        </p:txBody>
      </p:sp>
      <p:sp>
        <p:nvSpPr>
          <p:cNvPr id="37" name="Text 23"/>
          <p:cNvSpPr/>
          <p:nvPr/>
        </p:nvSpPr>
        <p:spPr>
          <a:xfrm>
            <a:off x="10208353" y="3713494"/>
            <a:ext cx="9192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lee y corrige</a:t>
            </a:r>
            <a:endParaRPr lang="en-US" sz="1200" dirty="0"/>
          </a:p>
        </p:txBody>
      </p:sp>
      <p:sp>
        <p:nvSpPr>
          <p:cNvPr id="38" name="Text 24"/>
          <p:cNvSpPr/>
          <p:nvPr/>
        </p:nvSpPr>
        <p:spPr>
          <a:xfrm>
            <a:off x="6705600" y="2120900"/>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C4645"/>
                </a:solidFill>
                <a:latin typeface="DM Sans" pitchFamily="34" charset="0"/>
                <a:ea typeface="DM Sans" pitchFamily="34" charset="-122"/>
                <a:cs typeface="DM Sans" pitchFamily="34" charset="-120"/>
              </a:rPr>
              <a:t>borrador</a:t>
            </a:r>
            <a:endParaRPr lang="en-US" sz="1200" dirty="0"/>
          </a:p>
        </p:txBody>
      </p:sp>
      <p:sp>
        <p:nvSpPr>
          <p:cNvPr id="39" name="Text 25"/>
          <p:cNvSpPr/>
          <p:nvPr/>
        </p:nvSpPr>
        <p:spPr>
          <a:xfrm>
            <a:off x="6705600" y="2794000"/>
            <a:ext cx="812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2410C"/>
                </a:solidFill>
                <a:latin typeface="DM Sans" pitchFamily="34" charset="0"/>
                <a:ea typeface="DM Sans" pitchFamily="34" charset="-122"/>
                <a:cs typeface="DM Sans" pitchFamily="34" charset="-120"/>
              </a:rPr>
              <a:t>falla</a:t>
            </a:r>
            <a:endParaRPr lang="en-US" sz="1200" dirty="0"/>
          </a:p>
        </p:txBody>
      </p:sp>
      <p:sp>
        <p:nvSpPr>
          <p:cNvPr id="40" name="Text 26"/>
          <p:cNvSpPr/>
          <p:nvPr/>
        </p:nvSpPr>
        <p:spPr>
          <a:xfrm>
            <a:off x="8483600" y="35560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aceptado</a:t>
            </a:r>
            <a:endParaRPr lang="en-US" sz="1200" dirty="0"/>
          </a:p>
        </p:txBody>
      </p:sp>
      <p:sp>
        <p:nvSpPr>
          <p:cNvPr id="41" name="Text 27"/>
          <p:cNvSpPr/>
          <p:nvPr/>
        </p:nvSpPr>
        <p:spPr>
          <a:xfrm>
            <a:off x="6705600" y="4533900"/>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C4645"/>
                </a:solidFill>
                <a:latin typeface="DM Sans" pitchFamily="34" charset="0"/>
                <a:ea typeface="DM Sans" pitchFamily="34" charset="-122"/>
                <a:cs typeface="DM Sans" pitchFamily="34" charset="-120"/>
              </a:rPr>
              <a:t>canoniza</a:t>
            </a:r>
            <a:endParaRPr lang="en-US" sz="1200" dirty="0"/>
          </a:p>
        </p:txBody>
      </p:sp>
      <p:sp>
        <p:nvSpPr>
          <p:cNvPr id="42" name="Text 28"/>
          <p:cNvSpPr/>
          <p:nvPr/>
        </p:nvSpPr>
        <p:spPr>
          <a:xfrm>
            <a:off x="4394200" y="3479800"/>
            <a:ext cx="1346200" cy="45204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paquete de contexto</a:t>
            </a:r>
            <a:endParaRPr lang="en-US" sz="1200" dirty="0"/>
          </a:p>
        </p:txBody>
      </p:sp>
      <p:sp>
        <p:nvSpPr>
          <p:cNvPr id="43" name="Text 29"/>
          <p:cNvSpPr/>
          <p:nvPr/>
        </p:nvSpPr>
        <p:spPr>
          <a:xfrm>
            <a:off x="3972560" y="5308600"/>
            <a:ext cx="627888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2410C"/>
                </a:solidFill>
                <a:latin typeface="DM Sans" pitchFamily="34" charset="0"/>
                <a:ea typeface="DM Sans" pitchFamily="34" charset="-122"/>
                <a:cs typeface="DM Sans" pitchFamily="34" charset="-120"/>
              </a:rPr>
              <a:t>«Pedir un cambio» → solo se regeneran los capítulos que usan ese hecho</a:t>
            </a:r>
            <a:endParaRPr lang="en-US" sz="1200" dirty="0"/>
          </a:p>
        </p:txBody>
      </p:sp>
      <p:sp>
        <p:nvSpPr>
          <p:cNvPr id="44" name="Text 30"/>
          <p:cNvSpPr/>
          <p:nvPr/>
        </p:nvSpPr>
        <p:spPr>
          <a:xfrm>
            <a:off x="812800" y="6238280"/>
            <a:ext cx="308800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93A0AB"/>
                </a:solidFill>
                <a:latin typeface="DM Sans" pitchFamily="34" charset="0"/>
                <a:ea typeface="DM Sans" pitchFamily="34" charset="-122"/>
                <a:cs typeface="DM Sans" pitchFamily="34" charset="-120"/>
              </a:rPr>
              <a:t>© Qaracter group, all rights reserved 2026</a:t>
            </a:r>
            <a:endParaRPr lang="en-US" sz="1200" dirty="0"/>
          </a:p>
        </p:txBody>
      </p:sp>
      <p:sp>
        <p:nvSpPr>
          <p:cNvPr id="45" name="Text 31"/>
          <p:cNvSpPr/>
          <p:nvPr/>
        </p:nvSpPr>
        <p:spPr>
          <a:xfrm>
            <a:off x="11172825" y="6238280"/>
            <a:ext cx="2571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3A0AB"/>
                </a:solidFill>
                <a:latin typeface="DM Sans" pitchFamily="34" charset="0"/>
                <a:ea typeface="DM Sans" pitchFamily="34" charset="-122"/>
                <a:cs typeface="DM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1074400" y="762000"/>
            <a:ext cx="304800" cy="304800"/>
          </a:xfrm>
          <a:prstGeom prst="rect">
            <a:avLst/>
          </a:prstGeom>
        </p:spPr>
      </p:pic>
      <p:sp>
        <p:nvSpPr>
          <p:cNvPr id="3" name="Text 0"/>
          <p:cNvSpPr/>
          <p:nvPr/>
        </p:nvSpPr>
        <p:spPr>
          <a:xfrm>
            <a:off x="812800" y="81280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03 · ARQUITECTURA DEL HARNESS</a:t>
            </a:r>
            <a:endParaRPr lang="en-US" sz="1200" dirty="0"/>
          </a:p>
        </p:txBody>
      </p:sp>
      <p:sp>
        <p:nvSpPr>
          <p:cNvPr id="4" name="Text 1"/>
          <p:cNvSpPr/>
          <p:nvPr/>
        </p:nvSpPr>
        <p:spPr>
          <a:xfrm>
            <a:off x="812800" y="1102320"/>
            <a:ext cx="10203180" cy="416520"/>
          </a:xfrm>
          <a:prstGeom prst="rect">
            <a:avLst/>
          </a:prstGeom>
          <a:noFill/>
          <a:ln/>
        </p:spPr>
        <p:txBody>
          <a:bodyPr wrap="square" lIns="0" tIns="0" rIns="0" bIns="0" rtlCol="0" anchor="t">
            <a:normAutofit/>
          </a:bodyPr>
          <a:lstStyle/>
          <a:p>
            <a:pPr algn="l" indent="0" marL="0">
              <a:lnSpc>
                <a:spcPts val="3080"/>
              </a:lnSpc>
              <a:buNone/>
            </a:pPr>
            <a:r>
              <a:rPr lang="en-US" sz="2800" b="1" spc="-50" kern="0" dirty="0">
                <a:solidFill>
                  <a:srgbClr val="233441"/>
                </a:solidFill>
                <a:latin typeface="DM Sans" pitchFamily="34" charset="0"/>
                <a:ea typeface="DM Sans" pitchFamily="34" charset="-122"/>
                <a:cs typeface="DM Sans" pitchFamily="34" charset="-120"/>
              </a:rPr>
              <a:t>Contexto, story bible, tools y hooks</a:t>
            </a:r>
            <a:endParaRPr lang="en-US" sz="2800" dirty="0"/>
          </a:p>
        </p:txBody>
      </p:sp>
      <p:sp>
        <p:nvSpPr>
          <p:cNvPr id="5" name="Shape 2"/>
          <p:cNvSpPr/>
          <p:nvPr/>
        </p:nvSpPr>
        <p:spPr>
          <a:xfrm>
            <a:off x="812800" y="1696641"/>
            <a:ext cx="5219700" cy="1318750"/>
          </a:xfrm>
          <a:prstGeom prst="roundRect">
            <a:avLst>
              <a:gd name="adj" fmla="val 7704"/>
            </a:avLst>
          </a:prstGeom>
          <a:solidFill>
            <a:srgbClr val="F4F6F8"/>
          </a:solidFill>
          <a:ln/>
        </p:spPr>
      </p:sp>
      <p:pic>
        <p:nvPicPr>
          <p:cNvPr id="6" name="Image 1" descr="Search">    </p:cNvPr>
          <p:cNvPicPr>
            <a:picLocks noChangeAspect="1"/>
          </p:cNvPicPr>
          <p:nvPr/>
        </p:nvPicPr>
        <p:blipFill>
          <a:blip r:embed="rId2"/>
          <a:srcRect l="0" r="0" t="0" b="0"/>
          <a:stretch/>
        </p:blipFill>
        <p:spPr>
          <a:xfrm>
            <a:off x="990600" y="1874441"/>
            <a:ext cx="254000" cy="254000"/>
          </a:xfrm>
          <a:prstGeom prst="rect">
            <a:avLst/>
          </a:prstGeom>
        </p:spPr>
      </p:pic>
      <p:sp>
        <p:nvSpPr>
          <p:cNvPr id="7" name="Text 3"/>
          <p:cNvSpPr/>
          <p:nvPr/>
        </p:nvSpPr>
        <p:spPr>
          <a:xfrm>
            <a:off x="1371600" y="1874441"/>
            <a:ext cx="461759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Gestión del contexto</a:t>
            </a:r>
            <a:endParaRPr lang="en-US" sz="1600" dirty="0"/>
          </a:p>
        </p:txBody>
      </p:sp>
      <p:sp>
        <p:nvSpPr>
          <p:cNvPr id="8" name="Text 4"/>
          <p:cNvSpPr/>
          <p:nvPr/>
        </p:nvSpPr>
        <p:spPr>
          <a:xfrm>
            <a:off x="1371600" y="2169055"/>
            <a:ext cx="4617593"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C4645"/>
                </a:solidFill>
                <a:latin typeface="DM Sans" pitchFamily="34" charset="0"/>
                <a:ea typeface="DM Sans" pitchFamily="34" charset="-122"/>
                <a:cs typeface="DM Sans" pitchFamily="34" charset="-120"/>
              </a:rPr>
              <a:t>Paquete de 100.000 tokens por escena, en 8 componentes con orden de recorte fijo. La escena 3 y la 40 pesan lo mismo.</a:t>
            </a:r>
            <a:endParaRPr lang="en-US" sz="1300" dirty="0"/>
          </a:p>
        </p:txBody>
      </p:sp>
      <p:sp>
        <p:nvSpPr>
          <p:cNvPr id="9" name="Shape 5"/>
          <p:cNvSpPr/>
          <p:nvPr/>
        </p:nvSpPr>
        <p:spPr>
          <a:xfrm>
            <a:off x="6159500" y="1696641"/>
            <a:ext cx="5219700" cy="1318750"/>
          </a:xfrm>
          <a:prstGeom prst="roundRect">
            <a:avLst>
              <a:gd name="adj" fmla="val 7704"/>
            </a:avLst>
          </a:prstGeom>
          <a:solidFill>
            <a:srgbClr val="F4F6F8"/>
          </a:solidFill>
          <a:ln/>
        </p:spPr>
      </p:sp>
      <p:pic>
        <p:nvPicPr>
          <p:cNvPr id="10" name="Image 2" descr="Database">    </p:cNvPr>
          <p:cNvPicPr>
            <a:picLocks noChangeAspect="1"/>
          </p:cNvPicPr>
          <p:nvPr/>
        </p:nvPicPr>
        <p:blipFill>
          <a:blip r:embed="rId3"/>
          <a:srcRect l="0" r="0" t="0" b="0"/>
          <a:stretch/>
        </p:blipFill>
        <p:spPr>
          <a:xfrm>
            <a:off x="6337300" y="1874441"/>
            <a:ext cx="254000" cy="254000"/>
          </a:xfrm>
          <a:prstGeom prst="rect">
            <a:avLst/>
          </a:prstGeom>
        </p:spPr>
      </p:pic>
      <p:sp>
        <p:nvSpPr>
          <p:cNvPr id="11" name="Text 6"/>
          <p:cNvSpPr/>
          <p:nvPr/>
        </p:nvSpPr>
        <p:spPr>
          <a:xfrm>
            <a:off x="6718300" y="1874441"/>
            <a:ext cx="461759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Story bible</a:t>
            </a:r>
            <a:endParaRPr lang="en-US" sz="1600" dirty="0"/>
          </a:p>
        </p:txBody>
      </p:sp>
      <p:sp>
        <p:nvSpPr>
          <p:cNvPr id="12" name="Text 7"/>
          <p:cNvSpPr/>
          <p:nvPr/>
        </p:nvSpPr>
        <p:spPr>
          <a:xfrm>
            <a:off x="6718300" y="2169055"/>
            <a:ext cx="461759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C4645"/>
                </a:solidFill>
                <a:latin typeface="DM Sans" pitchFamily="34" charset="0"/>
                <a:ea typeface="DM Sans" pitchFamily="34" charset="-122"/>
                <a:cs typeface="DM Sans" pitchFamily="34" charset="-120"/>
              </a:rPr>
              <a:t>Canon en SQLite: cada hecho vale entre dos eventos. Solo el Canonizador escribe, y solo borradores aceptados.</a:t>
            </a:r>
            <a:endParaRPr lang="en-US" sz="1300" dirty="0"/>
          </a:p>
        </p:txBody>
      </p:sp>
      <p:sp>
        <p:nvSpPr>
          <p:cNvPr id="13" name="Shape 8"/>
          <p:cNvSpPr/>
          <p:nvPr/>
        </p:nvSpPr>
        <p:spPr>
          <a:xfrm>
            <a:off x="812800" y="3142391"/>
            <a:ext cx="5219700" cy="1095904"/>
          </a:xfrm>
          <a:prstGeom prst="roundRect">
            <a:avLst>
              <a:gd name="adj" fmla="val 9271"/>
            </a:avLst>
          </a:prstGeom>
          <a:solidFill>
            <a:srgbClr val="F4F6F8"/>
          </a:solidFill>
          <a:ln/>
        </p:spPr>
      </p:sp>
      <p:pic>
        <p:nvPicPr>
          <p:cNvPr id="14" name="Image 3" descr="Wrench">    </p:cNvPr>
          <p:cNvPicPr>
            <a:picLocks noChangeAspect="1"/>
          </p:cNvPicPr>
          <p:nvPr/>
        </p:nvPicPr>
        <p:blipFill>
          <a:blip r:embed="rId4"/>
          <a:srcRect l="0" r="0" t="0" b="0"/>
          <a:stretch/>
        </p:blipFill>
        <p:spPr>
          <a:xfrm>
            <a:off x="990600" y="3320191"/>
            <a:ext cx="254000" cy="254000"/>
          </a:xfrm>
          <a:prstGeom prst="rect">
            <a:avLst/>
          </a:prstGeom>
        </p:spPr>
      </p:pic>
      <p:sp>
        <p:nvSpPr>
          <p:cNvPr id="15" name="Text 9"/>
          <p:cNvSpPr/>
          <p:nvPr/>
        </p:nvSpPr>
        <p:spPr>
          <a:xfrm>
            <a:off x="1371600" y="3320191"/>
            <a:ext cx="461759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Tools</a:t>
            </a:r>
            <a:endParaRPr lang="en-US" sz="1600" dirty="0"/>
          </a:p>
        </p:txBody>
      </p:sp>
      <p:sp>
        <p:nvSpPr>
          <p:cNvPr id="16" name="Text 10"/>
          <p:cNvSpPr/>
          <p:nvPr/>
        </p:nvSpPr>
        <p:spPr>
          <a:xfrm>
            <a:off x="1371600" y="3614806"/>
            <a:ext cx="461759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C4645"/>
                </a:solidFill>
                <a:latin typeface="DM Sans" pitchFamily="34" charset="0"/>
                <a:ea typeface="DM Sans" pitchFamily="34" charset="-122"/>
                <a:cs typeface="DM Sans" pitchFamily="34" charset="-120"/>
              </a:rPr>
              <a:t>Cada tool declara su schema; argumentos inválidos son fallo de contrato. Hasta 3 reintentos.</a:t>
            </a:r>
            <a:endParaRPr lang="en-US" sz="1300" dirty="0"/>
          </a:p>
        </p:txBody>
      </p:sp>
      <p:sp>
        <p:nvSpPr>
          <p:cNvPr id="17" name="Shape 11"/>
          <p:cNvSpPr/>
          <p:nvPr/>
        </p:nvSpPr>
        <p:spPr>
          <a:xfrm>
            <a:off x="6159500" y="3142391"/>
            <a:ext cx="5219700" cy="1095904"/>
          </a:xfrm>
          <a:prstGeom prst="roundRect">
            <a:avLst>
              <a:gd name="adj" fmla="val 9271"/>
            </a:avLst>
          </a:prstGeom>
          <a:solidFill>
            <a:srgbClr val="F4F6F8"/>
          </a:solidFill>
          <a:ln/>
        </p:spPr>
      </p:sp>
      <p:pic>
        <p:nvPicPr>
          <p:cNvPr id="18" name="Image 4" descr="Link">    </p:cNvPr>
          <p:cNvPicPr>
            <a:picLocks noChangeAspect="1"/>
          </p:cNvPicPr>
          <p:nvPr/>
        </p:nvPicPr>
        <p:blipFill>
          <a:blip r:embed="rId5"/>
          <a:srcRect l="0" r="0" t="0" b="0"/>
          <a:stretch/>
        </p:blipFill>
        <p:spPr>
          <a:xfrm>
            <a:off x="6337300" y="3320191"/>
            <a:ext cx="254000" cy="254000"/>
          </a:xfrm>
          <a:prstGeom prst="rect">
            <a:avLst/>
          </a:prstGeom>
        </p:spPr>
      </p:pic>
      <p:sp>
        <p:nvSpPr>
          <p:cNvPr id="19" name="Text 12"/>
          <p:cNvSpPr/>
          <p:nvPr/>
        </p:nvSpPr>
        <p:spPr>
          <a:xfrm>
            <a:off x="6718300" y="3320191"/>
            <a:ext cx="461759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Hooks</a:t>
            </a:r>
            <a:endParaRPr lang="en-US" sz="1600" dirty="0"/>
          </a:p>
        </p:txBody>
      </p:sp>
      <p:sp>
        <p:nvSpPr>
          <p:cNvPr id="20" name="Text 13"/>
          <p:cNvSpPr/>
          <p:nvPr/>
        </p:nvSpPr>
        <p:spPr>
          <a:xfrm>
            <a:off x="6718300" y="3614806"/>
            <a:ext cx="461759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C4645"/>
                </a:solidFill>
                <a:latin typeface="DM Sans" pitchFamily="34" charset="0"/>
                <a:ea typeface="DM Sans" pitchFamily="34" charset="-122"/>
                <a:cs typeface="DM Sans" pitchFamily="34" charset="-120"/>
              </a:rPr>
              <a:t>De capítulo: longitud y nombres exactos. De policy: palabras prohibidas, con fila en el audit log.</a:t>
            </a:r>
            <a:endParaRPr lang="en-US" sz="1300" dirty="0"/>
          </a:p>
        </p:txBody>
      </p:sp>
      <p:sp>
        <p:nvSpPr>
          <p:cNvPr id="21" name="Shape 14"/>
          <p:cNvSpPr/>
          <p:nvPr/>
        </p:nvSpPr>
        <p:spPr>
          <a:xfrm>
            <a:off x="812800" y="4441496"/>
            <a:ext cx="10566400" cy="1083204"/>
          </a:xfrm>
          <a:prstGeom prst="roundRect">
            <a:avLst>
              <a:gd name="adj" fmla="val 9380"/>
            </a:avLst>
          </a:prstGeom>
          <a:solidFill>
            <a:srgbClr val="233441"/>
          </a:solidFill>
          <a:ln/>
        </p:spPr>
      </p:sp>
      <p:sp>
        <p:nvSpPr>
          <p:cNvPr id="22" name="Text 15"/>
          <p:cNvSpPr/>
          <p:nvPr/>
        </p:nvSpPr>
        <p:spPr>
          <a:xfrm>
            <a:off x="1016000" y="4619296"/>
            <a:ext cx="10464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7932"/>
                </a:solidFill>
                <a:latin typeface="DM Sans" pitchFamily="34" charset="0"/>
                <a:ea typeface="DM Sans" pitchFamily="34" charset="-122"/>
                <a:cs typeface="DM Sans" pitchFamily="34" charset="-120"/>
              </a:rPr>
              <a:t>Por qué este diseño</a:t>
            </a:r>
            <a:endParaRPr lang="en-US" sz="1300" dirty="0"/>
          </a:p>
        </p:txBody>
      </p:sp>
      <p:sp>
        <p:nvSpPr>
          <p:cNvPr id="23" name="Text 16"/>
          <p:cNvSpPr/>
          <p:nvPr/>
        </p:nvSpPr>
        <p:spPr>
          <a:xfrm>
            <a:off x="1016000" y="4901208"/>
            <a:ext cx="1046480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6F8"/>
                </a:solidFill>
                <a:latin typeface="DM Sans" pitchFamily="34" charset="0"/>
                <a:ea typeface="DM Sans" pitchFamily="34" charset="-122"/>
                <a:cs typeface="DM Sans" pitchFamily="34" charset="-120"/>
              </a:rPr>
              <a:t>Quien genera no valida, solo lo determinista bloquea y el estado vive en SQLite: se reanuda desde el checkpoint y cada llamada deja su procedencia.</a:t>
            </a:r>
            <a:endParaRPr lang="en-US" sz="1300" dirty="0"/>
          </a:p>
        </p:txBody>
      </p:sp>
      <p:sp>
        <p:nvSpPr>
          <p:cNvPr id="24" name="Text 17"/>
          <p:cNvSpPr/>
          <p:nvPr/>
        </p:nvSpPr>
        <p:spPr>
          <a:xfrm>
            <a:off x="812800" y="6238280"/>
            <a:ext cx="308800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93A0AB"/>
                </a:solidFill>
                <a:latin typeface="DM Sans" pitchFamily="34" charset="0"/>
                <a:ea typeface="DM Sans" pitchFamily="34" charset="-122"/>
                <a:cs typeface="DM Sans" pitchFamily="34" charset="-120"/>
              </a:rPr>
              <a:t>© Qaracter group, all rights reserved 2026</a:t>
            </a:r>
            <a:endParaRPr lang="en-US" sz="1200" dirty="0"/>
          </a:p>
        </p:txBody>
      </p:sp>
      <p:sp>
        <p:nvSpPr>
          <p:cNvPr id="25" name="Text 18"/>
          <p:cNvSpPr/>
          <p:nvPr/>
        </p:nvSpPr>
        <p:spPr>
          <a:xfrm>
            <a:off x="11177257" y="6238280"/>
            <a:ext cx="2527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3A0AB"/>
                </a:solidFill>
                <a:latin typeface="DM Sans" pitchFamily="34" charset="0"/>
                <a:ea typeface="DM Sans" pitchFamily="34" charset="-122"/>
                <a:cs typeface="DM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1074400" y="762000"/>
            <a:ext cx="304800" cy="304800"/>
          </a:xfrm>
          <a:prstGeom prst="rect">
            <a:avLst/>
          </a:prstGeom>
        </p:spPr>
      </p:pic>
      <p:sp>
        <p:nvSpPr>
          <p:cNvPr id="3" name="Text 0"/>
          <p:cNvSpPr/>
          <p:nvPr/>
        </p:nvSpPr>
        <p:spPr>
          <a:xfrm>
            <a:off x="812800" y="81280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04 · VALIDACIÓN, EVALUACIÓN Y OBSERVABILIDAD</a:t>
            </a:r>
            <a:endParaRPr lang="en-US" sz="1200" dirty="0"/>
          </a:p>
        </p:txBody>
      </p:sp>
      <p:sp>
        <p:nvSpPr>
          <p:cNvPr id="4" name="Text 1"/>
          <p:cNvSpPr/>
          <p:nvPr/>
        </p:nvSpPr>
        <p:spPr>
          <a:xfrm>
            <a:off x="812800" y="1102320"/>
            <a:ext cx="10203180" cy="416520"/>
          </a:xfrm>
          <a:prstGeom prst="rect">
            <a:avLst/>
          </a:prstGeom>
          <a:noFill/>
          <a:ln/>
        </p:spPr>
        <p:txBody>
          <a:bodyPr wrap="square" lIns="0" tIns="0" rIns="0" bIns="0" rtlCol="0" anchor="t">
            <a:normAutofit/>
          </a:bodyPr>
          <a:lstStyle/>
          <a:p>
            <a:pPr algn="l" indent="0" marL="0">
              <a:lnSpc>
                <a:spcPts val="3080"/>
              </a:lnSpc>
              <a:buNone/>
            </a:pPr>
            <a:r>
              <a:rPr lang="en-US" sz="2800" b="1" spc="-50" kern="0" dirty="0">
                <a:solidFill>
                  <a:srgbClr val="233441"/>
                </a:solidFill>
                <a:latin typeface="DM Sans" pitchFamily="34" charset="0"/>
                <a:ea typeface="DM Sans" pitchFamily="34" charset="-122"/>
                <a:cs typeface="DM Sans" pitchFamily="34" charset="-120"/>
              </a:rPr>
              <a:t>Cuatro tipos de validadores y dónde actúan</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34741"/>
          <a:ext cx="10553700" cy="2359422"/>
        </p:xfrm>
        <a:graphic>
          <a:graphicData uri="http://schemas.openxmlformats.org/drawingml/2006/table">
            <a:tbl>
              <a:tblPr/>
              <a:tblGrid>
                <a:gridCol w="1688592"/>
                <a:gridCol w="4221480"/>
                <a:gridCol w="3166110"/>
                <a:gridCol w="1477518"/>
              </a:tblGrid>
              <a:tr h="429220">
                <a:tc>
                  <a:txBody>
                    <a:bodyPr/>
                    <a:lstStyle/>
                    <a:p>
                      <a:pPr indent="0" marL="0">
                        <a:lnSpc>
                          <a:spcPts val="1680"/>
                        </a:lnSpc>
                        <a:buNone/>
                      </a:pPr>
                      <a:r>
                        <a:rPr lang="en-US" sz="1200" b="1" dirty="0">
                          <a:solidFill>
                            <a:srgbClr val="FFFFFF"/>
                          </a:solidFill>
                          <a:latin typeface="DM Sans" pitchFamily="34" charset="0"/>
                          <a:ea typeface="DM Sans" pitchFamily="34" charset="-122"/>
                          <a:cs typeface="DM Sans" pitchFamily="34" charset="-120"/>
                        </a:rPr>
                        <a:t>Tipo</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c>
                  <a:txBody>
                    <a:bodyPr/>
                    <a:lstStyle/>
                    <a:p>
                      <a:pPr indent="0" marL="0">
                        <a:lnSpc>
                          <a:spcPts val="1680"/>
                        </a:lnSpc>
                        <a:buNone/>
                      </a:pPr>
                      <a:r>
                        <a:rPr lang="en-US" sz="1200" b="1" dirty="0">
                          <a:solidFill>
                            <a:srgbClr val="FFFFFF"/>
                          </a:solidFill>
                          <a:latin typeface="DM Sans" pitchFamily="34" charset="0"/>
                          <a:ea typeface="DM Sans" pitchFamily="34" charset="-122"/>
                          <a:cs typeface="DM Sans" pitchFamily="34" charset="-120"/>
                        </a:rPr>
                        <a:t>Validadores</a:t>
                      </a:r>
                      <a:endParaRPr lang="en-US" sz="1200" dirty="0">
                        <a:latin typeface="DM Sans" charset="0"/>
                        <a:ea typeface="DM Sans" charset="0"/>
                        <a:cs typeface="DM Sans" charset="0"/>
                      </a:endParaRPr>
                    </a:p>
                  </a:txBody>
                  <a:tcPr marL="127000" marR="127000" marT="101600" marB="101600" anchor="t">
                    <a:lnL w="12700" cap="flat" cmpd="sng" algn="ctr">
                      <a:solidFill>
                        <a:srgbClr val="202D37"/>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c>
                  <a:txBody>
                    <a:bodyPr/>
                    <a:lstStyle/>
                    <a:p>
                      <a:pPr indent="0" marL="0">
                        <a:lnSpc>
                          <a:spcPts val="1680"/>
                        </a:lnSpc>
                        <a:buNone/>
                      </a:pPr>
                      <a:r>
                        <a:rPr lang="en-US" sz="1200" b="1" dirty="0">
                          <a:solidFill>
                            <a:srgbClr val="FFFFFF"/>
                          </a:solidFill>
                          <a:latin typeface="DM Sans" pitchFamily="34" charset="0"/>
                          <a:ea typeface="DM Sans" pitchFamily="34" charset="-122"/>
                          <a:cs typeface="DM Sans" pitchFamily="34" charset="-120"/>
                        </a:rPr>
                        <a:t>Dónde actúa</a:t>
                      </a:r>
                      <a:endParaRPr lang="en-US" sz="1200" dirty="0">
                        <a:latin typeface="DM Sans" charset="0"/>
                        <a:ea typeface="DM Sans" charset="0"/>
                        <a:cs typeface="DM Sans" charset="0"/>
                      </a:endParaRPr>
                    </a:p>
                  </a:txBody>
                  <a:tcPr marL="127000" marR="127000" marT="101600" marB="101600" anchor="t">
                    <a:lnL w="12700" cap="flat" cmpd="sng" algn="ctr">
                      <a:solidFill>
                        <a:srgbClr val="202D37"/>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c>
                  <a:txBody>
                    <a:bodyPr/>
                    <a:lstStyle/>
                    <a:p>
                      <a:pPr indent="0" marL="0">
                        <a:lnSpc>
                          <a:spcPts val="1680"/>
                        </a:lnSpc>
                        <a:buNone/>
                      </a:pPr>
                      <a:r>
                        <a:rPr lang="en-US" sz="1200" b="1" dirty="0">
                          <a:solidFill>
                            <a:srgbClr val="FFFFFF"/>
                          </a:solidFill>
                          <a:latin typeface="DM Sans" pitchFamily="34" charset="0"/>
                          <a:ea typeface="DM Sans" pitchFamily="34" charset="-122"/>
                          <a:cs typeface="DM Sans" pitchFamily="34" charset="-120"/>
                        </a:rPr>
                        <a:t>Autoridad</a:t>
                      </a:r>
                      <a:endParaRPr lang="en-US" sz="1200" dirty="0">
                        <a:latin typeface="DM Sans" charset="0"/>
                        <a:ea typeface="DM Sans" charset="0"/>
                        <a:cs typeface="DM Sans" charset="0"/>
                      </a:endParaRPr>
                    </a:p>
                  </a:txBody>
                  <a:tcPr marL="127000" marR="127000" marT="101600" marB="101600" anchor="t">
                    <a:lnL w="12700" cap="flat" cmpd="sng" algn="ctr">
                      <a:solidFill>
                        <a:srgbClr val="202D37"/>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r>
              <a:tr h="642541">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Programático</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Palabras prohibidas, nombres exactos, longitud, elementos obligatorios, validación visual</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Hook de policy, hook de capítulo y puerta previa a publicar</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Bloquea</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92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Formal</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Cronología en Lean 4 · harness en TLA+ con TLC</a:t>
                      </a:r>
                      <a:endParaRPr lang="en-US" sz="1200" dirty="0">
                        <a:latin typeface="DM Sans" charset="0"/>
                        <a:ea typeface="DM Sans" charset="0"/>
                        <a:cs typeface="DM Sans" charset="0"/>
                      </a:endParaRPr>
                    </a:p>
                  </a:txBody>
                  <a:tcPr marL="127000" marR="127000" marT="101600" marB="1016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Puerta previa a publicar · desarrollo</a:t>
                      </a:r>
                      <a:endParaRPr lang="en-US" sz="1200" dirty="0">
                        <a:latin typeface="DM Sans" charset="0"/>
                        <a:ea typeface="DM Sans" charset="0"/>
                        <a:cs typeface="DM Sans" charset="0"/>
                      </a:endParaRPr>
                    </a:p>
                  </a:txBody>
                  <a:tcPr marL="127000" marR="127000" marT="101600" marB="1016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Bloquea</a:t>
                      </a:r>
                      <a:endParaRPr lang="en-US" sz="1200" dirty="0">
                        <a:latin typeface="DM Sans" charset="0"/>
                        <a:ea typeface="DM Sans" charset="0"/>
                        <a:cs typeface="DM Sans" charset="0"/>
                      </a:endParaRPr>
                    </a:p>
                  </a:txBody>
                  <a:tcPr marL="127000" marR="127000" marT="101600" marB="1016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4292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Semántico</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Juez con rúbrica</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Rol editor</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Penaliza</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92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Inspección</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Revisión humana</a:t>
                      </a:r>
                      <a:endParaRPr lang="en-US" sz="1200" dirty="0">
                        <a:latin typeface="DM Sans" charset="0"/>
                        <a:ea typeface="DM Sans" charset="0"/>
                        <a:cs typeface="DM Sans" charset="0"/>
                      </a:endParaRPr>
                    </a:p>
                  </a:txBody>
                  <a:tcPr marL="127000" marR="127000" marT="101600" marB="1016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Cierre</a:t>
                      </a:r>
                      <a:endParaRPr lang="en-US" sz="1200" dirty="0">
                        <a:latin typeface="DM Sans" charset="0"/>
                        <a:ea typeface="DM Sans" charset="0"/>
                        <a:cs typeface="DM Sans" charset="0"/>
                      </a:endParaRPr>
                    </a:p>
                  </a:txBody>
                  <a:tcPr marL="127000" marR="127000" marT="101600" marB="1016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Penaliza</a:t>
                      </a:r>
                      <a:endParaRPr lang="en-US" sz="1200" dirty="0">
                        <a:latin typeface="DM Sans" charset="0"/>
                        <a:ea typeface="DM Sans" charset="0"/>
                        <a:cs typeface="DM Sans" charset="0"/>
                      </a:endParaRPr>
                    </a:p>
                  </a:txBody>
                  <a:tcPr marL="127000" marR="127000" marT="101600" marB="1016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bl>
          </a:graphicData>
        </a:graphic>
      </p:graphicFrame>
      <p:sp>
        <p:nvSpPr>
          <p:cNvPr id="6" name="Shape 2"/>
          <p:cNvSpPr/>
          <p:nvPr/>
        </p:nvSpPr>
        <p:spPr>
          <a:xfrm>
            <a:off x="831850" y="4322763"/>
            <a:ext cx="0" cy="810154"/>
          </a:xfrm>
          <a:prstGeom prst="line">
            <a:avLst/>
          </a:prstGeom>
          <a:noFill/>
          <a:ln w="38100">
            <a:solidFill>
              <a:srgbClr val="FF7932"/>
            </a:solidFill>
            <a:prstDash val="solid"/>
          </a:ln>
        </p:spPr>
      </p:sp>
      <p:sp>
        <p:nvSpPr>
          <p:cNvPr id="7" name="Text 3"/>
          <p:cNvSpPr/>
          <p:nvPr/>
        </p:nvSpPr>
        <p:spPr>
          <a:xfrm>
            <a:off x="1003300" y="4373563"/>
            <a:ext cx="5166995"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3441"/>
                </a:solidFill>
                <a:latin typeface="DM Sans" pitchFamily="34" charset="0"/>
                <a:ea typeface="DM Sans" pitchFamily="34" charset="-122"/>
                <a:cs typeface="DM Sans" pitchFamily="34" charset="-120"/>
              </a:rPr>
              <a:t>Solo lo determinista bloquea</a:t>
            </a:r>
            <a:endParaRPr lang="en-US" sz="1300" dirty="0"/>
          </a:p>
        </p:txBody>
      </p:sp>
      <p:sp>
        <p:nvSpPr>
          <p:cNvPr id="8" name="Text 4"/>
          <p:cNvSpPr/>
          <p:nvPr/>
        </p:nvSpPr>
        <p:spPr>
          <a:xfrm>
            <a:off x="1003300" y="4655477"/>
            <a:ext cx="51669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El juez puntúa distinto en cada llamada, así que penaliza pero nunca para la línea.</a:t>
            </a:r>
            <a:endParaRPr lang="en-US" sz="1200" dirty="0"/>
          </a:p>
        </p:txBody>
      </p:sp>
      <p:sp>
        <p:nvSpPr>
          <p:cNvPr id="9" name="Shape 5"/>
          <p:cNvSpPr/>
          <p:nvPr/>
        </p:nvSpPr>
        <p:spPr>
          <a:xfrm>
            <a:off x="6191250" y="4322763"/>
            <a:ext cx="0" cy="810154"/>
          </a:xfrm>
          <a:prstGeom prst="line">
            <a:avLst/>
          </a:prstGeom>
          <a:noFill/>
          <a:ln w="38100">
            <a:solidFill>
              <a:srgbClr val="C2410C"/>
            </a:solidFill>
            <a:prstDash val="solid"/>
          </a:ln>
        </p:spPr>
      </p:sp>
      <p:sp>
        <p:nvSpPr>
          <p:cNvPr id="10" name="Text 6"/>
          <p:cNvSpPr/>
          <p:nvPr/>
        </p:nvSpPr>
        <p:spPr>
          <a:xfrm>
            <a:off x="6362700" y="4373563"/>
            <a:ext cx="5166995"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3441"/>
                </a:solidFill>
                <a:latin typeface="DM Sans" pitchFamily="34" charset="0"/>
                <a:ea typeface="DM Sans" pitchFamily="34" charset="-122"/>
                <a:cs typeface="DM Sans" pitchFamily="34" charset="-120"/>
              </a:rPr>
              <a:t>Hueco declarado</a:t>
            </a:r>
            <a:endParaRPr lang="en-US" sz="1300" dirty="0"/>
          </a:p>
        </p:txBody>
      </p:sp>
      <p:sp>
        <p:nvSpPr>
          <p:cNvPr id="11" name="Text 7"/>
          <p:cNvSpPr/>
          <p:nvPr/>
        </p:nvSpPr>
        <p:spPr>
          <a:xfrm>
            <a:off x="6362700" y="4655477"/>
            <a:ext cx="51669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Elementos obligatorios y la cronología aún no se llaman desde la tubería de producción (H-03).</a:t>
            </a:r>
            <a:endParaRPr lang="en-US" sz="1200" dirty="0"/>
          </a:p>
        </p:txBody>
      </p:sp>
      <p:sp>
        <p:nvSpPr>
          <p:cNvPr id="12" name="Text 8"/>
          <p:cNvSpPr/>
          <p:nvPr/>
        </p:nvSpPr>
        <p:spPr>
          <a:xfrm>
            <a:off x="812800" y="6238280"/>
            <a:ext cx="308800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93A0AB"/>
                </a:solidFill>
                <a:latin typeface="DM Sans" pitchFamily="34" charset="0"/>
                <a:ea typeface="DM Sans" pitchFamily="34" charset="-122"/>
                <a:cs typeface="DM Sans" pitchFamily="34" charset="-120"/>
              </a:rPr>
              <a:t>© Qaracter group, all rights reserved 2026</a:t>
            </a:r>
            <a:endParaRPr lang="en-US" sz="1200" dirty="0"/>
          </a:p>
        </p:txBody>
      </p:sp>
      <p:sp>
        <p:nvSpPr>
          <p:cNvPr id="13" name="Text 9"/>
          <p:cNvSpPr/>
          <p:nvPr/>
        </p:nvSpPr>
        <p:spPr>
          <a:xfrm>
            <a:off x="11175273" y="6238280"/>
            <a:ext cx="2547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3A0AB"/>
                </a:solidFill>
                <a:latin typeface="DM Sans" pitchFamily="34" charset="0"/>
                <a:ea typeface="DM Sans" pitchFamily="34" charset="-122"/>
                <a:cs typeface="DM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1074400" y="762000"/>
            <a:ext cx="304800" cy="304800"/>
          </a:xfrm>
          <a:prstGeom prst="rect">
            <a:avLst/>
          </a:prstGeom>
        </p:spPr>
      </p:pic>
      <p:sp>
        <p:nvSpPr>
          <p:cNvPr id="3" name="Text 0"/>
          <p:cNvSpPr/>
          <p:nvPr/>
        </p:nvSpPr>
        <p:spPr>
          <a:xfrm>
            <a:off x="812800" y="81280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04 · VALIDACIÓN, EVALUACIÓN Y OBSERVABILIDAD</a:t>
            </a:r>
            <a:endParaRPr lang="en-US" sz="1200" dirty="0"/>
          </a:p>
        </p:txBody>
      </p:sp>
      <p:sp>
        <p:nvSpPr>
          <p:cNvPr id="4" name="Text 1"/>
          <p:cNvSpPr/>
          <p:nvPr/>
        </p:nvSpPr>
        <p:spPr>
          <a:xfrm>
            <a:off x="812800" y="1102320"/>
            <a:ext cx="10203180" cy="416520"/>
          </a:xfrm>
          <a:prstGeom prst="rect">
            <a:avLst/>
          </a:prstGeom>
          <a:noFill/>
          <a:ln/>
        </p:spPr>
        <p:txBody>
          <a:bodyPr wrap="square" lIns="0" tIns="0" rIns="0" bIns="0" rtlCol="0" anchor="t">
            <a:normAutofit/>
          </a:bodyPr>
          <a:lstStyle/>
          <a:p>
            <a:pPr algn="l" indent="0" marL="0">
              <a:lnSpc>
                <a:spcPts val="3080"/>
              </a:lnSpc>
              <a:buNone/>
            </a:pPr>
            <a:r>
              <a:rPr lang="en-US" sz="2800" b="1" spc="-50" kern="0" dirty="0">
                <a:solidFill>
                  <a:srgbClr val="233441"/>
                </a:solidFill>
                <a:latin typeface="DM Sans" pitchFamily="34" charset="0"/>
                <a:ea typeface="DM Sans" pitchFamily="34" charset="-122"/>
                <a:cs typeface="DM Sans" pitchFamily="34" charset="-120"/>
              </a:rPr>
              <a:t>Resultados por brief y mejora tras el tuning</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683941"/>
          <a:ext cx="10553700" cy="2471142"/>
        </p:xfrm>
        <a:graphic>
          <a:graphicData uri="http://schemas.openxmlformats.org/drawingml/2006/table">
            <a:tbl>
              <a:tblPr/>
              <a:tblGrid>
                <a:gridCol w="2110740"/>
                <a:gridCol w="2743962"/>
                <a:gridCol w="4221480"/>
                <a:gridCol w="1477518"/>
              </a:tblGrid>
              <a:tr h="353020">
                <a:tc>
                  <a:txBody>
                    <a:bodyPr/>
                    <a:lstStyle/>
                    <a:p>
                      <a:pPr indent="0" marL="0">
                        <a:lnSpc>
                          <a:spcPts val="1680"/>
                        </a:lnSpc>
                        <a:buNone/>
                      </a:pPr>
                      <a:r>
                        <a:rPr lang="en-US" sz="1200" b="1" dirty="0">
                          <a:solidFill>
                            <a:srgbClr val="FFFFFF"/>
                          </a:solidFill>
                          <a:latin typeface="DM Sans" pitchFamily="34" charset="0"/>
                          <a:ea typeface="DM Sans" pitchFamily="34" charset="-122"/>
                          <a:cs typeface="DM Sans" pitchFamily="34" charset="-120"/>
                        </a:rPr>
                        <a:t>Brief</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c>
                  <a:txBody>
                    <a:bodyPr/>
                    <a:lstStyle/>
                    <a:p>
                      <a:pPr indent="0" marL="0">
                        <a:lnSpc>
                          <a:spcPts val="1680"/>
                        </a:lnSpc>
                        <a:buNone/>
                      </a:pPr>
                      <a:r>
                        <a:rPr lang="en-US" sz="1200" b="1" dirty="0">
                          <a:solidFill>
                            <a:srgbClr val="FFFFFF"/>
                          </a:solidFill>
                          <a:latin typeface="DM Sans" pitchFamily="34" charset="0"/>
                          <a:ea typeface="DM Sans" pitchFamily="34" charset="-122"/>
                          <a:cs typeface="DM Sans" pitchFamily="34" charset="-120"/>
                        </a:rPr>
                        <a:t>Qué prueba</a:t>
                      </a:r>
                      <a:endParaRPr lang="en-US" sz="1200" dirty="0">
                        <a:latin typeface="DM Sans" charset="0"/>
                        <a:ea typeface="DM Sans" charset="0"/>
                        <a:cs typeface="DM Sans" charset="0"/>
                      </a:endParaRPr>
                    </a:p>
                  </a:txBody>
                  <a:tcPr marL="114300" marR="114300" marT="63500" marB="63500" anchor="t">
                    <a:lnL w="12700" cap="flat" cmpd="sng" algn="ctr">
                      <a:solidFill>
                        <a:srgbClr val="202D37"/>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c>
                  <a:txBody>
                    <a:bodyPr/>
                    <a:lstStyle/>
                    <a:p>
                      <a:pPr indent="0" marL="0">
                        <a:lnSpc>
                          <a:spcPts val="1680"/>
                        </a:lnSpc>
                        <a:buNone/>
                      </a:pPr>
                      <a:r>
                        <a:rPr lang="en-US" sz="1200" b="1" dirty="0">
                          <a:solidFill>
                            <a:srgbClr val="FFFFFF"/>
                          </a:solidFill>
                          <a:latin typeface="DM Sans" pitchFamily="34" charset="0"/>
                          <a:ea typeface="DM Sans" pitchFamily="34" charset="-122"/>
                          <a:cs typeface="DM Sans" pitchFamily="34" charset="-120"/>
                        </a:rPr>
                        <a:t>Resultado de extremo a extremo</a:t>
                      </a:r>
                      <a:endParaRPr lang="en-US" sz="1200" dirty="0">
                        <a:latin typeface="DM Sans" charset="0"/>
                        <a:ea typeface="DM Sans" charset="0"/>
                        <a:cs typeface="DM Sans" charset="0"/>
                      </a:endParaRPr>
                    </a:p>
                  </a:txBody>
                  <a:tcPr marL="114300" marR="114300" marT="63500" marB="63500" anchor="t">
                    <a:lnL w="12700" cap="flat" cmpd="sng" algn="ctr">
                      <a:solidFill>
                        <a:srgbClr val="202D37"/>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c>
                  <a:txBody>
                    <a:bodyPr/>
                    <a:lstStyle/>
                    <a:p>
                      <a:pPr algn="r" indent="0" marL="0">
                        <a:lnSpc>
                          <a:spcPts val="1680"/>
                        </a:lnSpc>
                        <a:buNone/>
                      </a:pPr>
                      <a:r>
                        <a:rPr lang="en-US" sz="1200" b="1" dirty="0">
                          <a:solidFill>
                            <a:srgbClr val="FFFFFF"/>
                          </a:solidFill>
                          <a:latin typeface="DM Sans" pitchFamily="34" charset="0"/>
                          <a:ea typeface="DM Sans" pitchFamily="34" charset="-122"/>
                          <a:cs typeface="DM Sans" pitchFamily="34" charset="-120"/>
                        </a:rPr>
                        <a:t>Palabras</a:t>
                      </a:r>
                      <a:endParaRPr lang="en-US" sz="1200" dirty="0">
                        <a:latin typeface="DM Sans" charset="0"/>
                        <a:ea typeface="DM Sans" charset="0"/>
                        <a:cs typeface="DM Sans" charset="0"/>
                      </a:endParaRPr>
                    </a:p>
                  </a:txBody>
                  <a:tcPr marL="114300" marR="114300" marT="63500" marB="63500" anchor="t">
                    <a:lnL w="12700" cap="flat" cmpd="sng" algn="ctr">
                      <a:solidFill>
                        <a:srgbClr val="202D37"/>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r>
              <a:tr h="3530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normal</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Encargo sano</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Escrita; longitud falla en 1 de 4 capítulos</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3.888 / 30.000</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30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infantil</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Edad 7, tono compatible</a:t>
                      </a:r>
                      <a:endParaRPr lang="en-US" sz="1200" dirty="0">
                        <a:latin typeface="DM Sans" charset="0"/>
                        <a:ea typeface="DM Sans" charset="0"/>
                        <a:cs typeface="DM Sans" charset="0"/>
                      </a:endParaRPr>
                    </a:p>
                  </a:txBody>
                  <a:tcPr marL="114300" marR="114300" marT="63500" marB="635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Escrita; no bloquea de más</a:t>
                      </a:r>
                      <a:endParaRPr lang="en-US" sz="1200" dirty="0">
                        <a:latin typeface="DM Sans" charset="0"/>
                        <a:ea typeface="DM Sans" charset="0"/>
                        <a:cs typeface="DM Sans" charset="0"/>
                      </a:endParaRPr>
                    </a:p>
                  </a:txBody>
                  <a:tcPr marL="114300" marR="114300" marT="63500" marB="635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3.761 / 8.000</a:t>
                      </a:r>
                      <a:endParaRPr lang="en-US" sz="1200" dirty="0">
                        <a:latin typeface="DM Sans" charset="0"/>
                        <a:ea typeface="DM Sans" charset="0"/>
                        <a:cs typeface="DM Sans" charset="0"/>
                      </a:endParaRPr>
                    </a:p>
                  </a:txBody>
                  <a:tcPr marL="114300" marR="114300" marT="63500" marB="635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530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contradictorio</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Edad 7 con tono noir</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Rechazado en la entrevista, sin llamar al modelo</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30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injection</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3 órdenes incrustadas</a:t>
                      </a:r>
                      <a:endParaRPr lang="en-US" sz="1200" dirty="0">
                        <a:latin typeface="DM Sans" charset="0"/>
                        <a:ea typeface="DM Sans" charset="0"/>
                        <a:cs typeface="DM Sans" charset="0"/>
                      </a:endParaRPr>
                    </a:p>
                  </a:txBody>
                  <a:tcPr marL="114300" marR="114300" marT="63500" marB="635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3 borradores devueltos: 0 «Ricardo»; detenida</a:t>
                      </a:r>
                      <a:endParaRPr lang="en-US" sz="1200" dirty="0">
                        <a:latin typeface="DM Sans" charset="0"/>
                        <a:ea typeface="DM Sans" charset="0"/>
                        <a:cs typeface="DM Sans" charset="0"/>
                      </a:endParaRPr>
                    </a:p>
                  </a:txBody>
                  <a:tcPr marL="114300" marR="114300" marT="63500" marB="635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a:t>
                      </a:r>
                      <a:endParaRPr lang="en-US" sz="1200" dirty="0">
                        <a:latin typeface="DM Sans" charset="0"/>
                        <a:ea typeface="DM Sans" charset="0"/>
                        <a:cs typeface="DM Sans" charset="0"/>
                      </a:endParaRPr>
                    </a:p>
                  </a:txBody>
                  <a:tcPr marL="114300" marR="114300" marT="63500" marB="635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530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incoherencia</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Sofía en la boda de sus padres</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Escrita con la incoherencia dentro</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30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piloto de F1</a:t>
                      </a:r>
                      <a:endParaRPr lang="en-US" sz="1200" dirty="0">
                        <a:latin typeface="DM Sans" charset="0"/>
                        <a:ea typeface="DM Sans" charset="0"/>
                        <a:cs typeface="DM Sans" charset="0"/>
                      </a:endParaRPr>
                    </a:p>
                  </a:txBody>
                  <a:tcPr marL="114300" marR="114300" marT="63500" marB="63500" anchor="t">
                    <a:lnL w="12700" cap="flat" cmpd="sng" algn="ctr">
                      <a:solidFill>
                        <a:srgbClr val="CBCBCB"/>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Encargo real, 8 capítulos</a:t>
                      </a:r>
                      <a:endParaRPr lang="en-US" sz="1200" dirty="0">
                        <a:latin typeface="DM Sans" charset="0"/>
                        <a:ea typeface="DM Sans" charset="0"/>
                        <a:cs typeface="DM Sans" charset="0"/>
                      </a:endParaRPr>
                    </a:p>
                  </a:txBody>
                  <a:tcPr marL="114300" marR="114300" marT="63500" marB="63500" anchor="t">
                    <a:lnL w="12700" cap="flat" cmpd="sng" algn="ctr">
                      <a:solidFill>
                        <a:srgbClr val="CBC0B9"/>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Escrita; anacronismo y noche/mediodía sin detectar</a:t>
                      </a:r>
                      <a:endParaRPr lang="en-US" sz="1200" dirty="0">
                        <a:latin typeface="DM Sans" charset="0"/>
                        <a:ea typeface="DM Sans" charset="0"/>
                        <a:cs typeface="DM Sans" charset="0"/>
                      </a:endParaRPr>
                    </a:p>
                  </a:txBody>
                  <a:tcPr marL="114300" marR="114300" marT="63500" marB="63500" anchor="t">
                    <a:lnL w="12700" cap="flat" cmpd="sng" algn="ctr">
                      <a:solidFill>
                        <a:srgbClr val="CBC0B9"/>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5.924 / 20.000</a:t>
                      </a:r>
                      <a:endParaRPr lang="en-US" sz="1200" dirty="0">
                        <a:latin typeface="DM Sans" charset="0"/>
                        <a:ea typeface="DM Sans" charset="0"/>
                        <a:cs typeface="DM Sans" charset="0"/>
                      </a:endParaRPr>
                    </a:p>
                  </a:txBody>
                  <a:tcPr marL="114300" marR="114300" marT="63500" marB="63500" anchor="t">
                    <a:lnL w="12700" cap="flat" cmpd="sng" algn="ctr">
                      <a:solidFill>
                        <a:srgbClr val="CBC0B9"/>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r>
            </a:tbl>
          </a:graphicData>
        </a:graphic>
      </p:graphicFrame>
      <p:sp>
        <p:nvSpPr>
          <p:cNvPr id="6" name="Text 2"/>
          <p:cNvSpPr/>
          <p:nvPr/>
        </p:nvSpPr>
        <p:spPr>
          <a:xfrm>
            <a:off x="812800" y="6238280"/>
            <a:ext cx="308800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93A0AB"/>
                </a:solidFill>
                <a:latin typeface="DM Sans" pitchFamily="34" charset="0"/>
                <a:ea typeface="DM Sans" pitchFamily="34" charset="-122"/>
                <a:cs typeface="DM Sans" pitchFamily="34" charset="-120"/>
              </a:rPr>
              <a:t>© Qaracter group, all rights reserved 2026</a:t>
            </a:r>
            <a:endParaRPr lang="en-US" sz="1200" dirty="0"/>
          </a:p>
        </p:txBody>
      </p:sp>
      <p:sp>
        <p:nvSpPr>
          <p:cNvPr id="7" name="Text 3"/>
          <p:cNvSpPr/>
          <p:nvPr/>
        </p:nvSpPr>
        <p:spPr>
          <a:xfrm>
            <a:off x="11191081" y="6238280"/>
            <a:ext cx="2389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3A0AB"/>
                </a:solidFill>
                <a:latin typeface="DM Sans" pitchFamily="34" charset="0"/>
                <a:ea typeface="DM Sans" pitchFamily="34" charset="-122"/>
                <a:cs typeface="DM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1074400" y="762000"/>
            <a:ext cx="304800" cy="304800"/>
          </a:xfrm>
          <a:prstGeom prst="rect">
            <a:avLst/>
          </a:prstGeom>
        </p:spPr>
      </p:pic>
      <p:sp>
        <p:nvSpPr>
          <p:cNvPr id="3" name="Text 0"/>
          <p:cNvSpPr/>
          <p:nvPr/>
        </p:nvSpPr>
        <p:spPr>
          <a:xfrm>
            <a:off x="812800" y="81280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04 · VALIDACIÓN, EVALUACIÓN Y OBSERVABILIDAD</a:t>
            </a:r>
            <a:endParaRPr lang="en-US" sz="1200" dirty="0"/>
          </a:p>
        </p:txBody>
      </p:sp>
      <p:sp>
        <p:nvSpPr>
          <p:cNvPr id="4" name="Text 1"/>
          <p:cNvSpPr/>
          <p:nvPr/>
        </p:nvSpPr>
        <p:spPr>
          <a:xfrm>
            <a:off x="812800" y="1102320"/>
            <a:ext cx="10203180" cy="416520"/>
          </a:xfrm>
          <a:prstGeom prst="rect">
            <a:avLst/>
          </a:prstGeom>
          <a:noFill/>
          <a:ln/>
        </p:spPr>
        <p:txBody>
          <a:bodyPr wrap="square" lIns="0" tIns="0" rIns="0" bIns="0" rtlCol="0" anchor="t">
            <a:normAutofit/>
          </a:bodyPr>
          <a:lstStyle/>
          <a:p>
            <a:pPr algn="l" indent="0" marL="0">
              <a:lnSpc>
                <a:spcPts val="3080"/>
              </a:lnSpc>
              <a:buNone/>
            </a:pPr>
            <a:r>
              <a:rPr lang="en-US" sz="2800" b="1" spc="-50" kern="0" dirty="0">
                <a:solidFill>
                  <a:srgbClr val="233441"/>
                </a:solidFill>
                <a:latin typeface="DM Sans" pitchFamily="34" charset="0"/>
                <a:ea typeface="DM Sans" pitchFamily="34" charset="-122"/>
                <a:cs typeface="DM Sans" pitchFamily="34" charset="-120"/>
              </a:rPr>
              <a:t>Pruebas formales y trazas reales</a:t>
            </a:r>
            <a:endParaRPr lang="en-US" sz="2800" dirty="0"/>
          </a:p>
        </p:txBody>
      </p:sp>
      <p:sp>
        <p:nvSpPr>
          <p:cNvPr id="5" name="Shape 2"/>
          <p:cNvSpPr/>
          <p:nvPr/>
        </p:nvSpPr>
        <p:spPr>
          <a:xfrm>
            <a:off x="812800" y="1747441"/>
            <a:ext cx="3420533" cy="4094559"/>
          </a:xfrm>
          <a:prstGeom prst="roundRect">
            <a:avLst>
              <a:gd name="adj" fmla="val 2970"/>
            </a:avLst>
          </a:prstGeom>
          <a:solidFill>
            <a:srgbClr val="F4F6F8"/>
          </a:solidFill>
          <a:ln/>
        </p:spPr>
      </p:sp>
      <p:sp>
        <p:nvSpPr>
          <p:cNvPr id="6" name="Shape 3"/>
          <p:cNvSpPr/>
          <p:nvPr/>
        </p:nvSpPr>
        <p:spPr>
          <a:xfrm>
            <a:off x="812800" y="1747441"/>
            <a:ext cx="3420533" cy="4094559"/>
          </a:xfrm>
          <a:custGeom>
            <a:avLst/>
            <a:gdLst/>
            <a:ahLst/>
            <a:cxnLst/>
            <a:rect l="l" t="t" r="r" b="b"/>
            <a:pathLst>
              <a:path w="3420533" h="4094559">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FF7932"/>
          </a:solidFill>
          <a:ln/>
        </p:spPr>
      </p:sp>
      <p:sp>
        <p:nvSpPr>
          <p:cNvPr id="7" name="Text 4"/>
          <p:cNvSpPr/>
          <p:nvPr/>
        </p:nvSpPr>
        <p:spPr>
          <a:xfrm>
            <a:off x="1016000" y="1988741"/>
            <a:ext cx="3104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DM Sans" pitchFamily="34" charset="0"/>
                <a:ea typeface="DM Sans" pitchFamily="34" charset="-122"/>
                <a:cs typeface="DM Sans" pitchFamily="34" charset="-120"/>
              </a:rPr>
              <a:t>LEAN 4</a:t>
            </a:r>
            <a:endParaRPr lang="en-US" sz="1200" dirty="0"/>
          </a:p>
        </p:txBody>
      </p:sp>
      <p:sp>
        <p:nvSpPr>
          <p:cNvPr id="8" name="Text 5"/>
          <p:cNvSpPr/>
          <p:nvPr/>
        </p:nvSpPr>
        <p:spPr>
          <a:xfrm>
            <a:off x="1016000" y="2303661"/>
            <a:ext cx="31045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El fallo en la novela del piloto</a:t>
            </a:r>
            <a:endParaRPr lang="en-US" sz="1600" dirty="0"/>
          </a:p>
        </p:txBody>
      </p:sp>
      <p:sp>
        <p:nvSpPr>
          <p:cNvPr id="9" name="Text 6"/>
          <p:cNvSpPr/>
          <p:nvPr/>
        </p:nvSpPr>
        <p:spPr>
          <a:xfrm>
            <a:off x="1016000" y="2649076"/>
            <a:ext cx="310455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Cap. 1: de noche, la carrera es «en tres horas». Cap. 4: se corre «bajo el mediodía».</a:t>
            </a:r>
            <a:endParaRPr lang="en-US" sz="1300" dirty="0"/>
          </a:p>
        </p:txBody>
      </p:sp>
      <p:sp>
        <p:nvSpPr>
          <p:cNvPr id="10" name="Text 7"/>
          <p:cNvSpPr/>
          <p:nvPr/>
        </p:nvSpPr>
        <p:spPr>
          <a:xfrm>
            <a:off x="1016000" y="3444016"/>
            <a:ext cx="310455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Es la incoherencia que verifica la cronología, pero el canon no tiene fechas (H-02) y se publicó.</a:t>
            </a:r>
            <a:endParaRPr lang="en-US" sz="1300" dirty="0"/>
          </a:p>
        </p:txBody>
      </p:sp>
      <p:sp>
        <p:nvSpPr>
          <p:cNvPr id="11" name="Text 8"/>
          <p:cNvSpPr/>
          <p:nvPr/>
        </p:nvSpPr>
        <p:spPr>
          <a:xfrm>
            <a:off x="1016000" y="4238960"/>
            <a:ext cx="31045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DM Sans" pitchFamily="34" charset="0"/>
                <a:ea typeface="DM Sans" pitchFamily="34" charset="-122"/>
                <a:cs typeface="DM Sans" pitchFamily="34" charset="-120"/>
              </a:rPr>
              <a:t>Con fechas sembradas, Lean sí caza el caso Sofía (edad_no_negativa).</a:t>
            </a:r>
            <a:endParaRPr lang="en-US" sz="1200" dirty="0"/>
          </a:p>
        </p:txBody>
      </p:sp>
      <p:sp>
        <p:nvSpPr>
          <p:cNvPr id="12" name="Shape 9"/>
          <p:cNvSpPr/>
          <p:nvPr/>
        </p:nvSpPr>
        <p:spPr>
          <a:xfrm>
            <a:off x="4385733" y="1747441"/>
            <a:ext cx="3420533" cy="4094559"/>
          </a:xfrm>
          <a:prstGeom prst="roundRect">
            <a:avLst>
              <a:gd name="adj" fmla="val 2970"/>
            </a:avLst>
          </a:prstGeom>
          <a:solidFill>
            <a:srgbClr val="F4F6F8"/>
          </a:solidFill>
          <a:ln/>
        </p:spPr>
      </p:sp>
      <p:sp>
        <p:nvSpPr>
          <p:cNvPr id="13" name="Shape 10"/>
          <p:cNvSpPr/>
          <p:nvPr/>
        </p:nvSpPr>
        <p:spPr>
          <a:xfrm>
            <a:off x="4385733" y="1747441"/>
            <a:ext cx="3420533" cy="4094559"/>
          </a:xfrm>
          <a:custGeom>
            <a:avLst/>
            <a:gdLst/>
            <a:ahLst/>
            <a:cxnLst/>
            <a:rect l="l" t="t" r="r" b="b"/>
            <a:pathLst>
              <a:path w="3420533" h="4094559">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FF7932"/>
          </a:solidFill>
          <a:ln/>
        </p:spPr>
      </p:sp>
      <p:sp>
        <p:nvSpPr>
          <p:cNvPr id="14" name="Text 11"/>
          <p:cNvSpPr/>
          <p:nvPr/>
        </p:nvSpPr>
        <p:spPr>
          <a:xfrm>
            <a:off x="4588933" y="1988741"/>
            <a:ext cx="3104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DM Sans" pitchFamily="34" charset="0"/>
                <a:ea typeface="DM Sans" pitchFamily="34" charset="-122"/>
                <a:cs typeface="DM Sans" pitchFamily="34" charset="-120"/>
              </a:rPr>
              <a:t>TLA+ · TLC</a:t>
            </a:r>
            <a:endParaRPr lang="en-US" sz="1200" dirty="0"/>
          </a:p>
        </p:txBody>
      </p:sp>
      <p:sp>
        <p:nvSpPr>
          <p:cNvPr id="15" name="Text 12"/>
          <p:cNvSpPr/>
          <p:nvPr/>
        </p:nvSpPr>
        <p:spPr>
          <a:xfrm>
            <a:off x="4588933" y="2303661"/>
            <a:ext cx="31045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Propiedades del harness</a:t>
            </a:r>
            <a:endParaRPr lang="en-US" sz="1600" dirty="0"/>
          </a:p>
        </p:txBody>
      </p:sp>
      <p:sp>
        <p:nvSpPr>
          <p:cNvPr id="16" name="Text 13"/>
          <p:cNvSpPr/>
          <p:nvPr/>
        </p:nvSpPr>
        <p:spPr>
          <a:xfrm>
            <a:off x="4588933" y="2649076"/>
            <a:ext cx="3104557" cy="1130035"/>
          </a:xfrm>
          <a:prstGeom prst="rect">
            <a:avLst/>
          </a:prstGeom>
          <a:noFill/>
          <a:ln/>
        </p:spPr>
        <p:txBody>
          <a:bodyPr wrap="square" lIns="0" tIns="0" rIns="0" bIns="0" rtlCol="0" anchor="t">
            <a:normAutofit/>
          </a:bodyPr>
          <a:lstStyle/>
          <a:p>
            <a:pPr algn="l" marL="182880" indent="-155194">
              <a:lnSpc>
                <a:spcPts val="1740"/>
              </a:lnSpc>
              <a:buSzPct val="100000"/>
              <a:buChar char="•"/>
            </a:pPr>
            <a:r>
              <a:rPr lang="en-US" sz="1200" dirty="0">
                <a:solidFill>
                  <a:srgbClr val="3C4645"/>
                </a:solidFill>
                <a:latin typeface="DM Sans" pitchFamily="34" charset="0"/>
                <a:ea typeface="DM Sans" pitchFamily="34" charset="-122"/>
                <a:cs typeface="DM Sans" pitchFamily="34" charset="-120"/>
              </a:rPr>
              <a:t>NoPublicarSinValidar</a:t>
            </a:r>
            <a:endParaRPr lang="en-US" sz="1200" dirty="0"/>
          </a:p>
          <a:p>
            <a:pPr algn="l" marL="182880" indent="-155194">
              <a:lnSpc>
                <a:spcPts val="1740"/>
              </a:lnSpc>
              <a:buSzPct val="100000"/>
              <a:buChar char="•"/>
            </a:pPr>
            <a:r>
              <a:rPr lang="en-US" sz="1200" dirty="0">
                <a:solidFill>
                  <a:srgbClr val="3C4645"/>
                </a:solidFill>
                <a:latin typeface="DM Sans" pitchFamily="34" charset="0"/>
                <a:ea typeface="DM Sans" pitchFamily="34" charset="-122"/>
                <a:cs typeface="DM Sans" pitchFamily="34" charset="-120"/>
              </a:rPr>
              <a:t>CheckpointNoDuplicaNiPierde</a:t>
            </a:r>
            <a:endParaRPr lang="en-US" sz="1200" dirty="0"/>
          </a:p>
          <a:p>
            <a:pPr algn="l" marL="182880" indent="-155194">
              <a:lnSpc>
                <a:spcPts val="1740"/>
              </a:lnSpc>
              <a:buSzPct val="100000"/>
              <a:buChar char="•"/>
            </a:pPr>
            <a:r>
              <a:rPr lang="en-US" sz="1200" dirty="0">
                <a:solidFill>
                  <a:srgbClr val="3C4645"/>
                </a:solidFill>
                <a:latin typeface="DM Sans" pitchFamily="34" charset="0"/>
                <a:ea typeface="DM Sans" pitchFamily="34" charset="-122"/>
                <a:cs typeface="DM Sans" pitchFamily="34" charset="-120"/>
              </a:rPr>
              <a:t>VersionAnteriorSeConserva</a:t>
            </a:r>
            <a:endParaRPr lang="en-US" sz="1200" dirty="0"/>
          </a:p>
          <a:p>
            <a:pPr algn="l" marL="182880" indent="-155194">
              <a:lnSpc>
                <a:spcPts val="1740"/>
              </a:lnSpc>
              <a:buSzPct val="100000"/>
              <a:buChar char="•"/>
            </a:pPr>
            <a:r>
              <a:rPr lang="en-US" sz="1200" dirty="0">
                <a:solidFill>
                  <a:srgbClr val="3C4645"/>
                </a:solidFill>
                <a:latin typeface="DM Sans" pitchFamily="34" charset="0"/>
                <a:ea typeface="DM Sans" pitchFamily="34" charset="-122"/>
                <a:cs typeface="DM Sans" pitchFamily="34" charset="-120"/>
              </a:rPr>
              <a:t>ReintentosAcotados</a:t>
            </a:r>
            <a:endParaRPr lang="en-US" sz="1200" dirty="0"/>
          </a:p>
          <a:p>
            <a:pPr algn="l" marL="182880" indent="-155194">
              <a:lnSpc>
                <a:spcPts val="1740"/>
              </a:lnSpc>
              <a:buSzPct val="100000"/>
              <a:buChar char="•"/>
            </a:pPr>
            <a:r>
              <a:rPr lang="en-US" sz="1200" dirty="0">
                <a:solidFill>
                  <a:srgbClr val="3C4645"/>
                </a:solidFill>
                <a:latin typeface="DM Sans" pitchFamily="34" charset="0"/>
                <a:ea typeface="DM Sans" pitchFamily="34" charset="-122"/>
                <a:cs typeface="DM Sans" pitchFamily="34" charset="-120"/>
              </a:rPr>
              <a:t>Termina (liveness)</a:t>
            </a:r>
            <a:endParaRPr lang="en-US" sz="1200" dirty="0"/>
          </a:p>
        </p:txBody>
      </p:sp>
      <p:sp>
        <p:nvSpPr>
          <p:cNvPr id="17" name="Text 14"/>
          <p:cNvSpPr/>
          <p:nvPr/>
        </p:nvSpPr>
        <p:spPr>
          <a:xfrm>
            <a:off x="4588933" y="3855312"/>
            <a:ext cx="3104557"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3441"/>
                </a:solidFill>
                <a:latin typeface="DM Sans" pitchFamily="34" charset="0"/>
                <a:ea typeface="DM Sans" pitchFamily="34" charset="-122"/>
                <a:cs typeface="DM Sans" pitchFamily="34" charset="-120"/>
              </a:rPr>
              <a:t>Modelo: 5 capítulos, 2 reintentos.</a:t>
            </a:r>
            <a:r>
              <a:rPr lang="en-US" sz="1200" dirty="0">
                <a:solidFill>
                  <a:srgbClr val="233441"/>
                </a:solidFill>
                <a:latin typeface="DM Sans" pitchFamily="34" charset="0"/>
                <a:ea typeface="DM Sans" pitchFamily="34" charset="-122"/>
                <a:cs typeface="DM Sans" pitchFamily="34" charset="-120"/>
              </a:rPr>
              <a:t> Estados explorados: [pendiente de ejecutar TLC]</a:t>
            </a:r>
            <a:endParaRPr lang="en-US" sz="1200" dirty="0"/>
          </a:p>
        </p:txBody>
      </p:sp>
      <p:sp>
        <p:nvSpPr>
          <p:cNvPr id="18" name="Shape 15"/>
          <p:cNvSpPr/>
          <p:nvPr/>
        </p:nvSpPr>
        <p:spPr>
          <a:xfrm>
            <a:off x="7958667" y="1747441"/>
            <a:ext cx="3420533" cy="4094559"/>
          </a:xfrm>
          <a:prstGeom prst="roundRect">
            <a:avLst>
              <a:gd name="adj" fmla="val 2970"/>
            </a:avLst>
          </a:prstGeom>
          <a:solidFill>
            <a:srgbClr val="F4F6F8"/>
          </a:solidFill>
          <a:ln/>
        </p:spPr>
      </p:sp>
      <p:sp>
        <p:nvSpPr>
          <p:cNvPr id="19" name="Shape 16"/>
          <p:cNvSpPr/>
          <p:nvPr/>
        </p:nvSpPr>
        <p:spPr>
          <a:xfrm>
            <a:off x="7958667" y="1747441"/>
            <a:ext cx="3420533" cy="4094559"/>
          </a:xfrm>
          <a:custGeom>
            <a:avLst/>
            <a:gdLst/>
            <a:ahLst/>
            <a:cxnLst/>
            <a:rect l="l" t="t" r="r" b="b"/>
            <a:pathLst>
              <a:path w="3420533" h="4094559">
                <a:moveTo>
                  <a:pt x="0" y="101600"/>
                </a:moveTo>
                <a:lnTo>
                  <a:pt x="0" y="101600"/>
                </a:lnTo>
                <a:arcTo hR="101600" wR="101600" stAng="10800000" swAng="5400000"/>
                <a:lnTo>
                  <a:pt x="3318933" y="0"/>
                </a:lnTo>
                <a:arcTo hR="101600" wR="101600" stAng="16200000" swAng="5400000"/>
                <a:lnTo>
                  <a:pt x="3420533" y="101600"/>
                </a:lnTo>
                <a:arcTo hR="63500" wR="101600" stAng="0" swAng="-5400000"/>
                <a:lnTo>
                  <a:pt x="101600" y="38100"/>
                </a:lnTo>
                <a:arcTo hR="63500" wR="101600" stAng="16200000" swAng="-5400000"/>
                <a:close/>
              </a:path>
            </a:pathLst>
          </a:custGeom>
          <a:solidFill>
            <a:srgbClr val="FF7932"/>
          </a:solidFill>
          <a:ln/>
        </p:spPr>
      </p:sp>
      <p:sp>
        <p:nvSpPr>
          <p:cNvPr id="20" name="Text 17"/>
          <p:cNvSpPr/>
          <p:nvPr/>
        </p:nvSpPr>
        <p:spPr>
          <a:xfrm>
            <a:off x="8161867" y="1988741"/>
            <a:ext cx="3104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DM Sans" pitchFamily="34" charset="0"/>
                <a:ea typeface="DM Sans" pitchFamily="34" charset="-122"/>
                <a:cs typeface="DM Sans" pitchFamily="34" charset="-120"/>
              </a:rPr>
              <a:t>LANGFUSE</a:t>
            </a:r>
            <a:endParaRPr lang="en-US" sz="1200" dirty="0"/>
          </a:p>
        </p:txBody>
      </p:sp>
      <p:sp>
        <p:nvSpPr>
          <p:cNvPr id="21" name="Text 18"/>
          <p:cNvSpPr/>
          <p:nvPr/>
        </p:nvSpPr>
        <p:spPr>
          <a:xfrm>
            <a:off x="8161867" y="2303661"/>
            <a:ext cx="31045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Una sesión real</a:t>
            </a:r>
            <a:endParaRPr lang="en-US" sz="1600" dirty="0"/>
          </a:p>
        </p:txBody>
      </p:sp>
      <p:sp>
        <p:nvSpPr>
          <p:cNvPr id="22" name="Shape 19"/>
          <p:cNvSpPr/>
          <p:nvPr/>
        </p:nvSpPr>
        <p:spPr>
          <a:xfrm>
            <a:off x="8165042" y="2652251"/>
            <a:ext cx="3007783" cy="921478"/>
          </a:xfrm>
          <a:prstGeom prst="roundRect">
            <a:avLst>
              <a:gd name="adj" fmla="val 7925"/>
            </a:avLst>
          </a:prstGeom>
          <a:solidFill>
            <a:srgbClr val="FFFFFF"/>
          </a:solidFill>
          <a:ln w="6350">
            <a:solidFill>
              <a:srgbClr val="E6EAEE"/>
            </a:solidFill>
            <a:prstDash val="solid"/>
          </a:ln>
        </p:spPr>
      </p:sp>
      <p:sp>
        <p:nvSpPr>
          <p:cNvPr id="23" name="Text 20"/>
          <p:cNvSpPr/>
          <p:nvPr/>
        </p:nvSpPr>
        <p:spPr>
          <a:xfrm>
            <a:off x="8293100" y="2754908"/>
            <a:ext cx="28342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planner:apertura ×3 · </a:t>
            </a:r>
            <a:r>
              <a:rPr lang="en-US" sz="1200" b="1" dirty="0">
                <a:solidFill>
                  <a:srgbClr val="3C4645"/>
                </a:solidFill>
                <a:latin typeface="DM Sans" pitchFamily="34" charset="0"/>
                <a:ea typeface="DM Sans" pitchFamily="34" charset="-122"/>
                <a:cs typeface="DM Sans" pitchFamily="34" charset="-120"/>
              </a:rPr>
              <a:t>0,040 $</a:t>
            </a:r>
            <a:endParaRPr lang="en-US" sz="1200" dirty="0"/>
          </a:p>
        </p:txBody>
      </p:sp>
      <p:sp>
        <p:nvSpPr>
          <p:cNvPr id="24" name="Text 21"/>
          <p:cNvSpPr/>
          <p:nvPr/>
        </p:nvSpPr>
        <p:spPr>
          <a:xfrm>
            <a:off x="8293100" y="3006328"/>
            <a:ext cx="28342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redactor:redaccion ×7 · </a:t>
            </a:r>
            <a:r>
              <a:rPr lang="en-US" sz="1200" b="1" dirty="0">
                <a:solidFill>
                  <a:srgbClr val="3C4645"/>
                </a:solidFill>
                <a:latin typeface="DM Sans" pitchFamily="34" charset="0"/>
                <a:ea typeface="DM Sans" pitchFamily="34" charset="-122"/>
                <a:cs typeface="DM Sans" pitchFamily="34" charset="-120"/>
              </a:rPr>
              <a:t>0,076 $</a:t>
            </a:r>
            <a:endParaRPr lang="en-US" sz="1200" dirty="0"/>
          </a:p>
        </p:txBody>
      </p:sp>
      <p:sp>
        <p:nvSpPr>
          <p:cNvPr id="25" name="Text 22"/>
          <p:cNvSpPr/>
          <p:nvPr/>
        </p:nvSpPr>
        <p:spPr>
          <a:xfrm>
            <a:off x="8293100" y="3257748"/>
            <a:ext cx="28342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3441"/>
                </a:solidFill>
                <a:latin typeface="DM Sans" pitchFamily="34" charset="0"/>
                <a:ea typeface="DM Sans" pitchFamily="34" charset="-122"/>
                <a:cs typeface="DM Sans" pitchFamily="34" charset="-120"/>
              </a:rPr>
              <a:t>Novela: 0,116 $ · 1 min 58 s</a:t>
            </a:r>
            <a:endParaRPr lang="en-US" sz="1200" dirty="0"/>
          </a:p>
        </p:txBody>
      </p:sp>
      <p:sp>
        <p:nvSpPr>
          <p:cNvPr id="26" name="Text 23"/>
          <p:cNvSpPr/>
          <p:nvPr/>
        </p:nvSpPr>
        <p:spPr>
          <a:xfrm>
            <a:off x="8161867" y="3678504"/>
            <a:ext cx="31045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Traza de una escena: 2.772 tokens de entrada, 1.002 de salida · 0,0111 $ · 13,3 s</a:t>
            </a:r>
            <a:endParaRPr lang="en-US" sz="1200" dirty="0"/>
          </a:p>
        </p:txBody>
      </p:sp>
      <p:sp>
        <p:nvSpPr>
          <p:cNvPr id="27" name="Text 24"/>
          <p:cNvSpPr/>
          <p:nvPr/>
        </p:nvSpPr>
        <p:spPr>
          <a:xfrm>
            <a:off x="812800" y="6238280"/>
            <a:ext cx="308800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93A0AB"/>
                </a:solidFill>
                <a:latin typeface="DM Sans" pitchFamily="34" charset="0"/>
                <a:ea typeface="DM Sans" pitchFamily="34" charset="-122"/>
                <a:cs typeface="DM Sans" pitchFamily="34" charset="-120"/>
              </a:rPr>
              <a:t>© Qaracter group, all rights reserved 2026</a:t>
            </a:r>
            <a:endParaRPr lang="en-US" sz="1200" dirty="0"/>
          </a:p>
        </p:txBody>
      </p:sp>
      <p:sp>
        <p:nvSpPr>
          <p:cNvPr id="28" name="Text 25"/>
          <p:cNvSpPr/>
          <p:nvPr/>
        </p:nvSpPr>
        <p:spPr>
          <a:xfrm>
            <a:off x="11175537" y="6238280"/>
            <a:ext cx="25446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3A0AB"/>
                </a:solidFill>
                <a:latin typeface="DM Sans" pitchFamily="34" charset="0"/>
                <a:ea typeface="DM Sans" pitchFamily="34" charset="-122"/>
                <a:cs typeface="DM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1074400" y="762000"/>
            <a:ext cx="304800" cy="304800"/>
          </a:xfrm>
          <a:prstGeom prst="rect">
            <a:avLst/>
          </a:prstGeom>
        </p:spPr>
      </p:pic>
      <p:sp>
        <p:nvSpPr>
          <p:cNvPr id="3" name="Text 0"/>
          <p:cNvSpPr/>
          <p:nvPr/>
        </p:nvSpPr>
        <p:spPr>
          <a:xfrm>
            <a:off x="812800" y="81280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05 · GUARDRAILS</a:t>
            </a:r>
            <a:endParaRPr lang="en-US" sz="1200" dirty="0"/>
          </a:p>
        </p:txBody>
      </p:sp>
      <p:sp>
        <p:nvSpPr>
          <p:cNvPr id="4" name="Text 1"/>
          <p:cNvSpPr/>
          <p:nvPr/>
        </p:nvSpPr>
        <p:spPr>
          <a:xfrm>
            <a:off x="812800" y="1102320"/>
            <a:ext cx="10203180" cy="416520"/>
          </a:xfrm>
          <a:prstGeom prst="rect">
            <a:avLst/>
          </a:prstGeom>
          <a:noFill/>
          <a:ln/>
        </p:spPr>
        <p:txBody>
          <a:bodyPr wrap="square" lIns="0" tIns="0" rIns="0" bIns="0" rtlCol="0" anchor="t">
            <a:normAutofit/>
          </a:bodyPr>
          <a:lstStyle/>
          <a:p>
            <a:pPr algn="l" indent="0" marL="0">
              <a:lnSpc>
                <a:spcPts val="3080"/>
              </a:lnSpc>
              <a:buNone/>
            </a:pPr>
            <a:r>
              <a:rPr lang="en-US" sz="2800" b="1" spc="-50" kern="0" dirty="0">
                <a:solidFill>
                  <a:srgbClr val="233441"/>
                </a:solidFill>
                <a:latin typeface="DM Sans" pitchFamily="34" charset="0"/>
                <a:ea typeface="DM Sans" pitchFamily="34" charset="-122"/>
                <a:cs typeface="DM Sans" pitchFamily="34" charset="-120"/>
              </a:rPr>
              <a:t>Lo que el sistema no deja pasar</a:t>
            </a:r>
            <a:endParaRPr lang="en-US" sz="2800" dirty="0"/>
          </a:p>
        </p:txBody>
      </p:sp>
      <p:sp>
        <p:nvSpPr>
          <p:cNvPr id="5" name="Shape 2"/>
          <p:cNvSpPr/>
          <p:nvPr/>
        </p:nvSpPr>
        <p:spPr>
          <a:xfrm>
            <a:off x="812800" y="1747441"/>
            <a:ext cx="5461000" cy="4094559"/>
          </a:xfrm>
          <a:prstGeom prst="roundRect">
            <a:avLst>
              <a:gd name="adj" fmla="val 2481"/>
            </a:avLst>
          </a:prstGeom>
          <a:solidFill>
            <a:srgbClr val="F4F6F8"/>
          </a:solidFill>
          <a:ln/>
        </p:spPr>
      </p:sp>
      <p:pic>
        <p:nvPicPr>
          <p:cNvPr id="6" name="Image 1" descr="Warning">    </p:cNvPr>
          <p:cNvPicPr>
            <a:picLocks noChangeAspect="1"/>
          </p:cNvPicPr>
          <p:nvPr/>
        </p:nvPicPr>
        <p:blipFill>
          <a:blip r:embed="rId2"/>
          <a:srcRect l="0" r="0" t="0" b="0"/>
          <a:stretch/>
        </p:blipFill>
        <p:spPr>
          <a:xfrm>
            <a:off x="1016000" y="1950641"/>
            <a:ext cx="254000" cy="254000"/>
          </a:xfrm>
          <a:prstGeom prst="rect">
            <a:avLst/>
          </a:prstGeom>
        </p:spPr>
      </p:pic>
      <p:sp>
        <p:nvSpPr>
          <p:cNvPr id="7" name="Text 3"/>
          <p:cNvSpPr/>
          <p:nvPr/>
        </p:nvSpPr>
        <p:spPr>
          <a:xfrm>
            <a:off x="1371600" y="1955738"/>
            <a:ext cx="202878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Palabras prohibidas</a:t>
            </a:r>
            <a:endParaRPr lang="en-US" sz="1600" dirty="0"/>
          </a:p>
        </p:txBody>
      </p:sp>
      <p:sp>
        <p:nvSpPr>
          <p:cNvPr id="8" name="Text 4"/>
          <p:cNvSpPr/>
          <p:nvPr/>
        </p:nvSpPr>
        <p:spPr>
          <a:xfrm>
            <a:off x="1016000" y="2306241"/>
            <a:ext cx="520623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Listas global, de novela y de cliente. Máximo de 3 reescrituras.</a:t>
            </a:r>
            <a:endParaRPr lang="en-US" sz="1300" dirty="0"/>
          </a:p>
        </p:txBody>
      </p:sp>
      <p:sp>
        <p:nvSpPr>
          <p:cNvPr id="9" name="Shape 5"/>
          <p:cNvSpPr/>
          <p:nvPr/>
        </p:nvSpPr>
        <p:spPr>
          <a:xfrm>
            <a:off x="1016000" y="2638958"/>
            <a:ext cx="5054600" cy="980347"/>
          </a:xfrm>
          <a:prstGeom prst="roundRect">
            <a:avLst>
              <a:gd name="adj" fmla="val 5182"/>
            </a:avLst>
          </a:prstGeom>
          <a:solidFill>
            <a:srgbClr val="FFFFFF"/>
          </a:solidFill>
          <a:ln/>
        </p:spPr>
      </p:sp>
      <p:sp>
        <p:nvSpPr>
          <p:cNvPr id="10" name="Shape 6"/>
          <p:cNvSpPr/>
          <p:nvPr/>
        </p:nvSpPr>
        <p:spPr>
          <a:xfrm>
            <a:off x="1016000" y="2638958"/>
            <a:ext cx="5054600" cy="980347"/>
          </a:xfrm>
          <a:custGeom>
            <a:avLst/>
            <a:gdLst/>
            <a:ahLst/>
            <a:cxnLst/>
            <a:rect l="l" t="t" r="r" b="b"/>
            <a:pathLst>
              <a:path w="5054600" h="980347">
                <a:moveTo>
                  <a:pt x="50800" y="980347"/>
                </a:moveTo>
                <a:lnTo>
                  <a:pt x="50800" y="980347"/>
                </a:lnTo>
                <a:arcTo hR="50800" wR="50800" stAng="5400000" swAng="5400000"/>
                <a:lnTo>
                  <a:pt x="0" y="50800"/>
                </a:lnTo>
                <a:arcTo hR="50800" wR="50800" stAng="10800000" swAng="5400000"/>
                <a:lnTo>
                  <a:pt x="50800" y="0"/>
                </a:lnTo>
                <a:arcTo hR="50800" wR="12700" stAng="16200000" swAng="-5400000"/>
                <a:lnTo>
                  <a:pt x="38100" y="929547"/>
                </a:lnTo>
                <a:arcTo hR="50800" wR="12700" stAng="10800000" swAng="-5400000"/>
                <a:close/>
              </a:path>
            </a:pathLst>
          </a:custGeom>
          <a:solidFill>
            <a:srgbClr val="C2410C"/>
          </a:solidFill>
          <a:ln/>
        </p:spPr>
      </p:sp>
      <p:sp>
        <p:nvSpPr>
          <p:cNvPr id="11" name="Text 7"/>
          <p:cNvSpPr/>
          <p:nvPr/>
        </p:nvSpPr>
        <p:spPr>
          <a:xfrm>
            <a:off x="1206500" y="2765958"/>
            <a:ext cx="48530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DM Sans" pitchFamily="34" charset="0"/>
                <a:ea typeface="DM Sans" pitchFamily="34" charset="-122"/>
                <a:cs typeface="DM Sans" pitchFamily="34" charset="-120"/>
              </a:rPr>
              <a:t>Novela del piloto · veto de prueba «cockpit»</a:t>
            </a:r>
            <a:endParaRPr lang="en-US" sz="1200" dirty="0"/>
          </a:p>
        </p:txBody>
      </p:sp>
      <p:sp>
        <p:nvSpPr>
          <p:cNvPr id="12" name="Text 8"/>
          <p:cNvSpPr/>
          <p:nvPr/>
        </p:nvSpPr>
        <p:spPr>
          <a:xfrm>
            <a:off x="1206500" y="3030079"/>
            <a:ext cx="485305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Cap. 1: «…el lugar más ruidoso del mundo: la </a:t>
            </a:r>
            <a:r>
              <a:rPr lang="en-US" sz="1300" u="sng" dirty="0">
                <a:solidFill>
                  <a:srgbClr val="3C4645"/>
                </a:solidFill>
                <a:latin typeface="DM Sans" pitchFamily="34" charset="0"/>
                <a:ea typeface="DM Sans" pitchFamily="34" charset="-122"/>
                <a:cs typeface="DM Sans" pitchFamily="34" charset="-120"/>
              </a:rPr>
              <a:t>cockpit</a:t>
            </a:r>
            <a:r>
              <a:rPr lang="en-US" sz="1300" dirty="0">
                <a:solidFill>
                  <a:srgbClr val="3C4645"/>
                </a:solidFill>
                <a:latin typeface="DM Sans" pitchFamily="34" charset="0"/>
                <a:ea typeface="DM Sans" pitchFamily="34" charset="-122"/>
                <a:cs typeface="DM Sans" pitchFamily="34" charset="-120"/>
              </a:rPr>
              <a:t> de un monoplaza»</a:t>
            </a:r>
            <a:endParaRPr lang="en-US" sz="1300" dirty="0"/>
          </a:p>
        </p:txBody>
      </p:sp>
      <p:sp>
        <p:nvSpPr>
          <p:cNvPr id="13" name="Shape 9"/>
          <p:cNvSpPr/>
          <p:nvPr/>
        </p:nvSpPr>
        <p:spPr>
          <a:xfrm>
            <a:off x="1016000" y="3720902"/>
            <a:ext cx="5054600" cy="980347"/>
          </a:xfrm>
          <a:prstGeom prst="roundRect">
            <a:avLst>
              <a:gd name="adj" fmla="val 5182"/>
            </a:avLst>
          </a:prstGeom>
          <a:solidFill>
            <a:srgbClr val="FFFFFF"/>
          </a:solidFill>
          <a:ln/>
        </p:spPr>
      </p:sp>
      <p:sp>
        <p:nvSpPr>
          <p:cNvPr id="14" name="Shape 10"/>
          <p:cNvSpPr/>
          <p:nvPr/>
        </p:nvSpPr>
        <p:spPr>
          <a:xfrm>
            <a:off x="1016000" y="3720902"/>
            <a:ext cx="5054600" cy="980347"/>
          </a:xfrm>
          <a:custGeom>
            <a:avLst/>
            <a:gdLst/>
            <a:ahLst/>
            <a:cxnLst/>
            <a:rect l="l" t="t" r="r" b="b"/>
            <a:pathLst>
              <a:path w="5054600" h="980347">
                <a:moveTo>
                  <a:pt x="50800" y="980347"/>
                </a:moveTo>
                <a:lnTo>
                  <a:pt x="50800" y="980347"/>
                </a:lnTo>
                <a:arcTo hR="50800" wR="50800" stAng="5400000" swAng="5400000"/>
                <a:lnTo>
                  <a:pt x="0" y="50800"/>
                </a:lnTo>
                <a:arcTo hR="50800" wR="50800" stAng="10800000" swAng="5400000"/>
                <a:lnTo>
                  <a:pt x="50800" y="0"/>
                </a:lnTo>
                <a:arcTo hR="50800" wR="12700" stAng="16200000" swAng="-5400000"/>
                <a:lnTo>
                  <a:pt x="38100" y="929547"/>
                </a:lnTo>
                <a:arcTo hR="50800" wR="12700" stAng="10800000" swAng="-5400000"/>
                <a:close/>
              </a:path>
            </a:pathLst>
          </a:custGeom>
          <a:solidFill>
            <a:srgbClr val="233441"/>
          </a:solidFill>
          <a:ln/>
        </p:spPr>
      </p:sp>
      <p:sp>
        <p:nvSpPr>
          <p:cNvPr id="15" name="Text 11"/>
          <p:cNvSpPr/>
          <p:nvPr/>
        </p:nvSpPr>
        <p:spPr>
          <a:xfrm>
            <a:off x="1206500" y="3847902"/>
            <a:ext cx="48530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3441"/>
                </a:solidFill>
                <a:latin typeface="DM Sans" pitchFamily="34" charset="0"/>
                <a:ea typeface="DM Sans" pitchFamily="34" charset="-122"/>
                <a:cs typeface="DM Sans" pitchFamily="34" charset="-120"/>
              </a:rPr>
              <a:t>Qué hace el guardarraíl</a:t>
            </a:r>
            <a:endParaRPr lang="en-US" sz="1200" dirty="0"/>
          </a:p>
        </p:txBody>
      </p:sp>
      <p:sp>
        <p:nvSpPr>
          <p:cNvPr id="16" name="Text 12"/>
          <p:cNvSpPr/>
          <p:nvPr/>
        </p:nvSpPr>
        <p:spPr>
          <a:xfrm>
            <a:off x="1206500" y="4112022"/>
            <a:ext cx="485305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1 coincidencia en 8 capítulos: el capítulo 1 vuelve al Redactor y queda fila en el audit log.</a:t>
            </a:r>
            <a:endParaRPr lang="en-US" sz="1300" dirty="0"/>
          </a:p>
        </p:txBody>
      </p:sp>
      <p:sp>
        <p:nvSpPr>
          <p:cNvPr id="17" name="Shape 13"/>
          <p:cNvSpPr/>
          <p:nvPr/>
        </p:nvSpPr>
        <p:spPr>
          <a:xfrm>
            <a:off x="6426200" y="1747441"/>
            <a:ext cx="4953000" cy="1112441"/>
          </a:xfrm>
          <a:prstGeom prst="roundRect">
            <a:avLst>
              <a:gd name="adj" fmla="val 9133"/>
            </a:avLst>
          </a:prstGeom>
          <a:solidFill>
            <a:srgbClr val="F4F6F8"/>
          </a:solidFill>
          <a:ln/>
        </p:spPr>
      </p:sp>
      <p:sp>
        <p:nvSpPr>
          <p:cNvPr id="18" name="Text 14"/>
          <p:cNvSpPr/>
          <p:nvPr/>
        </p:nvSpPr>
        <p:spPr>
          <a:xfrm>
            <a:off x="6604000" y="1925241"/>
            <a:ext cx="473532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Datos personales</a:t>
            </a:r>
            <a:endParaRPr lang="en-US" sz="1600" dirty="0"/>
          </a:p>
        </p:txBody>
      </p:sp>
      <p:sp>
        <p:nvSpPr>
          <p:cNvPr id="19" name="Text 15"/>
          <p:cNvSpPr/>
          <p:nvPr/>
        </p:nvSpPr>
        <p:spPr>
          <a:xfrm>
            <a:off x="6604000" y="2219858"/>
            <a:ext cx="473532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A Langfuse no sale prosa: solo tokens, coste y latencia. La prosa vive en SQLite.</a:t>
            </a:r>
            <a:endParaRPr lang="en-US" sz="1300" dirty="0"/>
          </a:p>
        </p:txBody>
      </p:sp>
      <p:sp>
        <p:nvSpPr>
          <p:cNvPr id="20" name="Shape 16"/>
          <p:cNvSpPr/>
          <p:nvPr/>
        </p:nvSpPr>
        <p:spPr>
          <a:xfrm>
            <a:off x="6426200" y="3012281"/>
            <a:ext cx="4953000" cy="1112441"/>
          </a:xfrm>
          <a:prstGeom prst="roundRect">
            <a:avLst>
              <a:gd name="adj" fmla="val 9133"/>
            </a:avLst>
          </a:prstGeom>
          <a:solidFill>
            <a:srgbClr val="F4F6F8"/>
          </a:solidFill>
          <a:ln/>
        </p:spPr>
      </p:sp>
      <p:sp>
        <p:nvSpPr>
          <p:cNvPr id="21" name="Text 17"/>
          <p:cNvSpPr/>
          <p:nvPr/>
        </p:nvSpPr>
        <p:spPr>
          <a:xfrm>
            <a:off x="6604000" y="3190081"/>
            <a:ext cx="473532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Prompt injection</a:t>
            </a:r>
            <a:endParaRPr lang="en-US" sz="1600" dirty="0"/>
          </a:p>
        </p:txBody>
      </p:sp>
      <p:sp>
        <p:nvSpPr>
          <p:cNvPr id="22" name="Text 18"/>
          <p:cNvSpPr/>
          <p:nvPr/>
        </p:nvSpPr>
        <p:spPr>
          <a:xfrm>
            <a:off x="6604000" y="3484699"/>
            <a:ext cx="473532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El texto libre entra envuelto como dato. Hueco: los recuerdos, sin envoltorio.</a:t>
            </a:r>
            <a:endParaRPr lang="en-US" sz="1300" dirty="0"/>
          </a:p>
        </p:txBody>
      </p:sp>
      <p:sp>
        <p:nvSpPr>
          <p:cNvPr id="23" name="Shape 19"/>
          <p:cNvSpPr/>
          <p:nvPr/>
        </p:nvSpPr>
        <p:spPr>
          <a:xfrm>
            <a:off x="6426200" y="4277122"/>
            <a:ext cx="4953000" cy="1112441"/>
          </a:xfrm>
          <a:prstGeom prst="roundRect">
            <a:avLst>
              <a:gd name="adj" fmla="val 9133"/>
            </a:avLst>
          </a:prstGeom>
          <a:solidFill>
            <a:srgbClr val="F4F6F8"/>
          </a:solidFill>
          <a:ln/>
        </p:spPr>
      </p:sp>
      <p:sp>
        <p:nvSpPr>
          <p:cNvPr id="24" name="Text 20"/>
          <p:cNvSpPr/>
          <p:nvPr/>
        </p:nvSpPr>
        <p:spPr>
          <a:xfrm>
            <a:off x="6604000" y="4454922"/>
            <a:ext cx="473532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Audit log</a:t>
            </a:r>
            <a:endParaRPr lang="en-US" sz="1600" dirty="0"/>
          </a:p>
        </p:txBody>
      </p:sp>
      <p:sp>
        <p:nvSpPr>
          <p:cNvPr id="25" name="Text 21"/>
          <p:cNvSpPr/>
          <p:nvPr/>
        </p:nvSpPr>
        <p:spPr>
          <a:xfrm>
            <a:off x="6604000" y="4749540"/>
            <a:ext cx="473532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645"/>
                </a:solidFill>
                <a:latin typeface="DM Sans" pitchFamily="34" charset="0"/>
                <a:ea typeface="DM Sans" pitchFamily="34" charset="-122"/>
                <a:cs typeface="DM Sans" pitchFamily="34" charset="-120"/>
              </a:rPr>
              <a:t>Cada coincidencia e intento de injection deja fila ligada a su capítulo.</a:t>
            </a:r>
            <a:endParaRPr lang="en-US" sz="1300" dirty="0"/>
          </a:p>
        </p:txBody>
      </p:sp>
      <p:sp>
        <p:nvSpPr>
          <p:cNvPr id="26" name="Text 22"/>
          <p:cNvSpPr/>
          <p:nvPr/>
        </p:nvSpPr>
        <p:spPr>
          <a:xfrm>
            <a:off x="812800" y="6238280"/>
            <a:ext cx="308800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93A0AB"/>
                </a:solidFill>
                <a:latin typeface="DM Sans" pitchFamily="34" charset="0"/>
                <a:ea typeface="DM Sans" pitchFamily="34" charset="-122"/>
                <a:cs typeface="DM Sans" pitchFamily="34" charset="-120"/>
              </a:rPr>
              <a:t>© Qaracter group, all rights reserved 2026</a:t>
            </a:r>
            <a:endParaRPr lang="en-US" sz="1200" dirty="0"/>
          </a:p>
        </p:txBody>
      </p:sp>
      <p:sp>
        <p:nvSpPr>
          <p:cNvPr id="27" name="Text 23"/>
          <p:cNvSpPr/>
          <p:nvPr/>
        </p:nvSpPr>
        <p:spPr>
          <a:xfrm>
            <a:off x="11175273" y="6238280"/>
            <a:ext cx="2547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3A0AB"/>
                </a:solidFill>
                <a:latin typeface="DM Sans" pitchFamily="34" charset="0"/>
                <a:ea typeface="DM Sans" pitchFamily="34" charset="-122"/>
                <a:cs typeface="DM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1074400" y="762000"/>
            <a:ext cx="304800" cy="304800"/>
          </a:xfrm>
          <a:prstGeom prst="rect">
            <a:avLst/>
          </a:prstGeom>
        </p:spPr>
      </p:pic>
      <p:sp>
        <p:nvSpPr>
          <p:cNvPr id="3" name="Text 0"/>
          <p:cNvSpPr/>
          <p:nvPr/>
        </p:nvSpPr>
        <p:spPr>
          <a:xfrm>
            <a:off x="812800" y="81280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06 · PRESUPUESTO Y COSTE</a:t>
            </a:r>
            <a:endParaRPr lang="en-US" sz="1200" dirty="0"/>
          </a:p>
        </p:txBody>
      </p:sp>
      <p:sp>
        <p:nvSpPr>
          <p:cNvPr id="4" name="Text 1"/>
          <p:cNvSpPr/>
          <p:nvPr/>
        </p:nvSpPr>
        <p:spPr>
          <a:xfrm>
            <a:off x="812800" y="1102320"/>
            <a:ext cx="10203180" cy="416520"/>
          </a:xfrm>
          <a:prstGeom prst="rect">
            <a:avLst/>
          </a:prstGeom>
          <a:noFill/>
          <a:ln/>
        </p:spPr>
        <p:txBody>
          <a:bodyPr wrap="square" lIns="0" tIns="0" rIns="0" bIns="0" rtlCol="0" anchor="t">
            <a:normAutofit/>
          </a:bodyPr>
          <a:lstStyle/>
          <a:p>
            <a:pPr algn="l" indent="0" marL="0">
              <a:lnSpc>
                <a:spcPts val="3080"/>
              </a:lnSpc>
              <a:buNone/>
            </a:pPr>
            <a:r>
              <a:rPr lang="en-US" sz="2800" b="1" spc="-50" kern="0" dirty="0">
                <a:solidFill>
                  <a:srgbClr val="233441"/>
                </a:solidFill>
                <a:latin typeface="DM Sans" pitchFamily="34" charset="0"/>
                <a:ea typeface="DM Sans" pitchFamily="34" charset="-122"/>
                <a:cs typeface="DM Sans" pitchFamily="34" charset="-120"/>
              </a:rPr>
              <a:t>Propuesta económica para Editorial Hojarasca</a:t>
            </a:r>
            <a:endParaRPr lang="en-US" sz="2800" dirty="0"/>
          </a:p>
        </p:txBody>
      </p:sp>
      <p:sp>
        <p:nvSpPr>
          <p:cNvPr id="5" name="Text 2"/>
          <p:cNvSpPr/>
          <p:nvPr/>
        </p:nvSpPr>
        <p:spPr>
          <a:xfrm>
            <a:off x="812800" y="1747441"/>
            <a:ext cx="627888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Coste unitario por novela de 20.000 palabras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105558"/>
          <a:ext cx="6083300" cy="3040063"/>
        </p:xfrm>
        <a:graphic>
          <a:graphicData uri="http://schemas.openxmlformats.org/drawingml/2006/table">
            <a:tbl>
              <a:tblPr/>
              <a:tblGrid>
                <a:gridCol w="1824990"/>
                <a:gridCol w="1094994"/>
                <a:gridCol w="3163316"/>
              </a:tblGrid>
              <a:tr h="403820">
                <a:tc>
                  <a:txBody>
                    <a:bodyPr/>
                    <a:lstStyle/>
                    <a:p>
                      <a:pPr indent="0" marL="0">
                        <a:lnSpc>
                          <a:spcPts val="1680"/>
                        </a:lnSpc>
                        <a:buNone/>
                      </a:pPr>
                      <a:r>
                        <a:rPr lang="en-US" sz="1200" b="1" dirty="0">
                          <a:solidFill>
                            <a:srgbClr val="FFFFFF"/>
                          </a:solidFill>
                          <a:latin typeface="DM Sans" pitchFamily="34" charset="0"/>
                          <a:ea typeface="DM Sans" pitchFamily="34" charset="-122"/>
                          <a:cs typeface="DM Sans" pitchFamily="34" charset="-120"/>
                        </a:rPr>
                        <a:t>Concepto</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c>
                  <a:txBody>
                    <a:bodyPr/>
                    <a:lstStyle/>
                    <a:p>
                      <a:pPr algn="r" indent="0" marL="0">
                        <a:lnSpc>
                          <a:spcPts val="1680"/>
                        </a:lnSpc>
                        <a:buNone/>
                      </a:pPr>
                      <a:r>
                        <a:rPr lang="en-US" sz="1200" b="1" dirty="0">
                          <a:solidFill>
                            <a:srgbClr val="FFFFFF"/>
                          </a:solidFill>
                          <a:latin typeface="DM Sans" pitchFamily="34" charset="0"/>
                          <a:ea typeface="DM Sans" pitchFamily="34" charset="-122"/>
                          <a:cs typeface="DM Sans" pitchFamily="34" charset="-120"/>
                        </a:rPr>
                        <a:t>$ / novela</a:t>
                      </a:r>
                      <a:endParaRPr lang="en-US" sz="1200" dirty="0">
                        <a:latin typeface="DM Sans" charset="0"/>
                        <a:ea typeface="DM Sans" charset="0"/>
                        <a:cs typeface="DM Sans" charset="0"/>
                      </a:endParaRPr>
                    </a:p>
                  </a:txBody>
                  <a:tcPr marL="127000" marR="127000" marT="88900" marB="88900" anchor="t">
                    <a:lnL w="12700" cap="flat" cmpd="sng" algn="ctr">
                      <a:solidFill>
                        <a:srgbClr val="202D37"/>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c>
                  <a:txBody>
                    <a:bodyPr/>
                    <a:lstStyle/>
                    <a:p>
                      <a:pPr indent="0" marL="0">
                        <a:lnSpc>
                          <a:spcPts val="1680"/>
                        </a:lnSpc>
                        <a:buNone/>
                      </a:pPr>
                      <a:r>
                        <a:rPr lang="en-US" sz="1200" b="1" dirty="0">
                          <a:solidFill>
                            <a:srgbClr val="FFFFFF"/>
                          </a:solidFill>
                          <a:latin typeface="DM Sans" pitchFamily="34" charset="0"/>
                          <a:ea typeface="DM Sans" pitchFamily="34" charset="-122"/>
                          <a:cs typeface="DM Sans" pitchFamily="34" charset="-120"/>
                        </a:rPr>
                        <a:t>Origen del dato</a:t>
                      </a:r>
                      <a:endParaRPr lang="en-US" sz="1200" dirty="0">
                        <a:latin typeface="DM Sans" charset="0"/>
                        <a:ea typeface="DM Sans" charset="0"/>
                        <a:cs typeface="DM Sans" charset="0"/>
                      </a:endParaRPr>
                    </a:p>
                  </a:txBody>
                  <a:tcPr marL="127000" marR="127000" marT="88900" marB="88900" anchor="t">
                    <a:lnL w="12700" cap="flat" cmpd="sng" algn="ctr">
                      <a:solidFill>
                        <a:srgbClr val="202D37"/>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r>
              <a:tr h="617141">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Tokens (LLM)</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0,41</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Langfuse: 0,0109 $ por escena × 34 + plan</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038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Infraestructura</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0,20</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40 $/mes ÷ 200 novelas</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038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Margen operativo</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2,86</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Soporte y 3 revisiones incluidas</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038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Coste total</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3,47</a:t>
                      </a:r>
                      <a:endParaRPr lang="en-US" sz="1200" dirty="0">
                        <a:latin typeface="DM Sans" charset="0"/>
                        <a:ea typeface="DM Sans" charset="0"/>
                        <a:cs typeface="DM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Suma de los tres conceptos</a:t>
                      </a:r>
                      <a:endParaRPr lang="en-US" sz="1200" dirty="0">
                        <a:latin typeface="DM Sans" charset="0"/>
                        <a:ea typeface="DM Sans" charset="0"/>
                        <a:cs typeface="DM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4038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Precio de venta</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29,00</a:t>
                      </a:r>
                      <a:endParaRPr lang="en-US" sz="1200" dirty="0">
                        <a:latin typeface="DM Sans" charset="0"/>
                        <a:ea typeface="DM Sans" charset="0"/>
                        <a:cs typeface="DM Sans" charset="0"/>
                      </a:endParaRPr>
                    </a:p>
                  </a:txBody>
                  <a:tcPr marL="127000" marR="127000" marT="88900" marB="88900" anchor="t">
                    <a:lnL w="12700" cap="flat" cmpd="sng" algn="ctr">
                      <a:solidFill>
                        <a:srgbClr val="CBC0B9"/>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Novela digital: web + PDF</a:t>
                      </a:r>
                      <a:endParaRPr lang="en-US" sz="1200" dirty="0">
                        <a:latin typeface="DM Sans" charset="0"/>
                        <a:ea typeface="DM Sans" charset="0"/>
                        <a:cs typeface="DM Sans" charset="0"/>
                      </a:endParaRPr>
                    </a:p>
                  </a:txBody>
                  <a:tcPr marL="127000" marR="127000" marT="88900" marB="88900" anchor="t">
                    <a:lnL w="12700" cap="flat" cmpd="sng" algn="ctr">
                      <a:solidFill>
                        <a:srgbClr val="CBC0B9"/>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r>
              <a:tr h="4038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Margen</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0B9"/>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25,53</a:t>
                      </a:r>
                      <a:endParaRPr lang="en-US" sz="1200" dirty="0">
                        <a:latin typeface="DM Sans" charset="0"/>
                        <a:ea typeface="DM Sans" charset="0"/>
                        <a:cs typeface="DM Sans" charset="0"/>
                      </a:endParaRPr>
                    </a:p>
                  </a:txBody>
                  <a:tcPr marL="127000" marR="127000" marT="88900" marB="88900" anchor="t">
                    <a:lnL w="12700" cap="flat" cmpd="sng" algn="ctr">
                      <a:solidFill>
                        <a:srgbClr val="CBC0B9"/>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0B9"/>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88,0 % sobre el precio</a:t>
                      </a:r>
                      <a:endParaRPr lang="en-US" sz="1200" dirty="0">
                        <a:latin typeface="DM Sans" charset="0"/>
                        <a:ea typeface="DM Sans" charset="0"/>
                        <a:cs typeface="DM Sans" charset="0"/>
                      </a:endParaRPr>
                    </a:p>
                  </a:txBody>
                  <a:tcPr marL="127000" marR="127000" marT="88900" marB="88900" anchor="t">
                    <a:lnL w="12700" cap="flat" cmpd="sng" algn="ctr">
                      <a:solidFill>
                        <a:srgbClr val="CBC0B9"/>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0B9"/>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r>
            </a:tbl>
          </a:graphicData>
        </a:graphic>
      </p:graphicFrame>
      <p:sp>
        <p:nvSpPr>
          <p:cNvPr id="7" name="Text 3"/>
          <p:cNvSpPr/>
          <p:nvPr/>
        </p:nvSpPr>
        <p:spPr>
          <a:xfrm>
            <a:off x="812800" y="5247221"/>
            <a:ext cx="62788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DM Sans" pitchFamily="34" charset="0"/>
                <a:ea typeface="DM Sans" pitchFamily="34" charset="-122"/>
                <a:cs typeface="DM Sans" pitchFamily="34" charset="-120"/>
              </a:rPr>
              <a:t>Referencia: la novela del piloto de F1 (encargo de 20.000 palabras, entregó 5.924).</a:t>
            </a:r>
            <a:endParaRPr lang="en-US" sz="1200" dirty="0"/>
          </a:p>
        </p:txBody>
      </p:sp>
      <p:sp>
        <p:nvSpPr>
          <p:cNvPr id="8" name="Text 4"/>
          <p:cNvSpPr/>
          <p:nvPr/>
        </p:nvSpPr>
        <p:spPr>
          <a:xfrm>
            <a:off x="7061200" y="1747441"/>
            <a:ext cx="44475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Proyecto de desarrollo</a:t>
            </a:r>
            <a:endParaRPr lang="en-US" sz="16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7073900" y="2105558"/>
          <a:ext cx="4305300" cy="2422922"/>
        </p:xfrm>
        <a:graphic>
          <a:graphicData uri="http://schemas.openxmlformats.org/drawingml/2006/table">
            <a:tbl>
              <a:tblPr/>
              <a:tblGrid>
                <a:gridCol w="1894332"/>
                <a:gridCol w="947166"/>
                <a:gridCol w="1463802"/>
              </a:tblGrid>
              <a:tr h="403820">
                <a:tc>
                  <a:txBody>
                    <a:bodyPr/>
                    <a:lstStyle/>
                    <a:p>
                      <a:pPr indent="0" marL="0">
                        <a:lnSpc>
                          <a:spcPts val="1680"/>
                        </a:lnSpc>
                        <a:buNone/>
                      </a:pPr>
                      <a:r>
                        <a:rPr lang="en-US" sz="1200" b="1" dirty="0">
                          <a:solidFill>
                            <a:srgbClr val="FFFFFF"/>
                          </a:solidFill>
                          <a:latin typeface="DM Sans" pitchFamily="34" charset="0"/>
                          <a:ea typeface="DM Sans" pitchFamily="34" charset="-122"/>
                          <a:cs typeface="DM Sans" pitchFamily="34" charset="-120"/>
                        </a:rPr>
                        <a:t>Fase</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c>
                  <a:txBody>
                    <a:bodyPr/>
                    <a:lstStyle/>
                    <a:p>
                      <a:pPr algn="r" indent="0" marL="0">
                        <a:lnSpc>
                          <a:spcPts val="1680"/>
                        </a:lnSpc>
                        <a:buNone/>
                      </a:pPr>
                      <a:r>
                        <a:rPr lang="en-US" sz="1200" b="1" dirty="0">
                          <a:solidFill>
                            <a:srgbClr val="FFFFFF"/>
                          </a:solidFill>
                          <a:latin typeface="DM Sans" pitchFamily="34" charset="0"/>
                          <a:ea typeface="DM Sans" pitchFamily="34" charset="-122"/>
                          <a:cs typeface="DM Sans" pitchFamily="34" charset="-120"/>
                        </a:rPr>
                        <a:t>Horas</a:t>
                      </a:r>
                      <a:endParaRPr lang="en-US" sz="1200" dirty="0">
                        <a:latin typeface="DM Sans" charset="0"/>
                        <a:ea typeface="DM Sans" charset="0"/>
                        <a:cs typeface="DM Sans" charset="0"/>
                      </a:endParaRPr>
                    </a:p>
                  </a:txBody>
                  <a:tcPr marL="127000" marR="127000" marT="88900" marB="88900" anchor="t">
                    <a:lnL w="12700" cap="flat" cmpd="sng" algn="ctr">
                      <a:solidFill>
                        <a:srgbClr val="202D37"/>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c>
                  <a:txBody>
                    <a:bodyPr/>
                    <a:lstStyle/>
                    <a:p>
                      <a:pPr algn="r" indent="0" marL="0">
                        <a:lnSpc>
                          <a:spcPts val="1680"/>
                        </a:lnSpc>
                        <a:buNone/>
                      </a:pPr>
                      <a:r>
                        <a:rPr lang="en-US" sz="1200" b="1" dirty="0">
                          <a:solidFill>
                            <a:srgbClr val="FFFFFF"/>
                          </a:solidFill>
                          <a:latin typeface="DM Sans" pitchFamily="34" charset="0"/>
                          <a:ea typeface="DM Sans" pitchFamily="34" charset="-122"/>
                          <a:cs typeface="DM Sans" pitchFamily="34" charset="-120"/>
                        </a:rPr>
                        <a:t>Importe</a:t>
                      </a:r>
                      <a:endParaRPr lang="en-US" sz="1200" dirty="0">
                        <a:latin typeface="DM Sans" charset="0"/>
                        <a:ea typeface="DM Sans" charset="0"/>
                        <a:cs typeface="DM Sans" charset="0"/>
                      </a:endParaRPr>
                    </a:p>
                  </a:txBody>
                  <a:tcPr marL="127000" marR="127000" marT="88900" marB="88900" anchor="t">
                    <a:lnL w="12700" cap="flat" cmpd="sng" algn="ctr">
                      <a:solidFill>
                        <a:srgbClr val="202D37"/>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r>
              <a:tr h="4038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Diseño</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60</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2.700 $</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038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Desarrollo</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200</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9.000 $</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038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Validación</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80</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3.600 $</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038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Despliegue</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30</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1.350 $</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038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Total</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370 h</a:t>
                      </a:r>
                      <a:endParaRPr lang="en-US" sz="1200" dirty="0">
                        <a:latin typeface="DM Sans" charset="0"/>
                        <a:ea typeface="DM Sans" charset="0"/>
                        <a:cs typeface="DM Sans" charset="0"/>
                      </a:endParaRPr>
                    </a:p>
                  </a:txBody>
                  <a:tcPr marL="127000" marR="127000" marT="88900" marB="88900" anchor="t">
                    <a:lnL w="12700" cap="flat" cmpd="sng" algn="ctr">
                      <a:solidFill>
                        <a:srgbClr val="CBC0B9"/>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16.650 $</a:t>
                      </a:r>
                      <a:endParaRPr lang="en-US" sz="1200" dirty="0">
                        <a:latin typeface="DM Sans" charset="0"/>
                        <a:ea typeface="DM Sans" charset="0"/>
                        <a:cs typeface="DM Sans" charset="0"/>
                      </a:endParaRPr>
                    </a:p>
                  </a:txBody>
                  <a:tcPr marL="127000" marR="127000" marT="88900" marB="88900" anchor="t">
                    <a:lnL w="12700" cap="flat" cmpd="sng" algn="ctr">
                      <a:solidFill>
                        <a:srgbClr val="CBC0B9"/>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r>
            </a:tbl>
          </a:graphicData>
        </a:graphic>
      </p:graphicFrame>
      <p:sp>
        <p:nvSpPr>
          <p:cNvPr id="10" name="Text 5"/>
          <p:cNvSpPr/>
          <p:nvPr/>
        </p:nvSpPr>
        <p:spPr>
          <a:xfrm>
            <a:off x="7061200" y="4630080"/>
            <a:ext cx="44475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DM Sans" pitchFamily="34" charset="0"/>
                <a:ea typeface="DM Sans" pitchFamily="34" charset="-122"/>
                <a:cs typeface="DM Sans" pitchFamily="34" charset="-120"/>
              </a:rPr>
              <a:t>Tarifa de 45 $/h. Se recupera en unos 3,3 meses con 200 novelas al mes.</a:t>
            </a:r>
            <a:endParaRPr lang="en-US" sz="1200" dirty="0"/>
          </a:p>
        </p:txBody>
      </p:sp>
      <p:sp>
        <p:nvSpPr>
          <p:cNvPr id="11" name="Text 6"/>
          <p:cNvSpPr/>
          <p:nvPr/>
        </p:nvSpPr>
        <p:spPr>
          <a:xfrm>
            <a:off x="812800" y="6238280"/>
            <a:ext cx="308800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93A0AB"/>
                </a:solidFill>
                <a:latin typeface="DM Sans" pitchFamily="34" charset="0"/>
                <a:ea typeface="DM Sans" pitchFamily="34" charset="-122"/>
                <a:cs typeface="DM Sans" pitchFamily="34" charset="-120"/>
              </a:rPr>
              <a:t>© Qaracter group, all rights reserved 2026</a:t>
            </a:r>
            <a:endParaRPr lang="en-US" sz="1200" dirty="0"/>
          </a:p>
        </p:txBody>
      </p:sp>
      <p:sp>
        <p:nvSpPr>
          <p:cNvPr id="12" name="Text 7"/>
          <p:cNvSpPr/>
          <p:nvPr/>
        </p:nvSpPr>
        <p:spPr>
          <a:xfrm>
            <a:off x="11216415" y="6238280"/>
            <a:ext cx="2135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3A0AB"/>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1074400" y="762000"/>
            <a:ext cx="304800" cy="304800"/>
          </a:xfrm>
          <a:prstGeom prst="rect">
            <a:avLst/>
          </a:prstGeom>
        </p:spPr>
      </p:pic>
      <p:sp>
        <p:nvSpPr>
          <p:cNvPr id="3" name="Text 0"/>
          <p:cNvSpPr/>
          <p:nvPr/>
        </p:nvSpPr>
        <p:spPr>
          <a:xfrm>
            <a:off x="812800" y="81280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06 · PRESUPUESTO Y COSTE</a:t>
            </a:r>
            <a:endParaRPr lang="en-US" sz="1200" dirty="0"/>
          </a:p>
        </p:txBody>
      </p:sp>
      <p:sp>
        <p:nvSpPr>
          <p:cNvPr id="4" name="Text 1"/>
          <p:cNvSpPr/>
          <p:nvPr/>
        </p:nvSpPr>
        <p:spPr>
          <a:xfrm>
            <a:off x="812800" y="1102320"/>
            <a:ext cx="10203180" cy="416520"/>
          </a:xfrm>
          <a:prstGeom prst="rect">
            <a:avLst/>
          </a:prstGeom>
          <a:noFill/>
          <a:ln/>
        </p:spPr>
        <p:txBody>
          <a:bodyPr wrap="square" lIns="0" tIns="0" rIns="0" bIns="0" rtlCol="0" anchor="t">
            <a:normAutofit/>
          </a:bodyPr>
          <a:lstStyle/>
          <a:p>
            <a:pPr algn="l" indent="0" marL="0">
              <a:lnSpc>
                <a:spcPts val="3080"/>
              </a:lnSpc>
              <a:buNone/>
            </a:pPr>
            <a:r>
              <a:rPr lang="en-US" sz="2800" b="1" spc="-50" kern="0" dirty="0">
                <a:solidFill>
                  <a:srgbClr val="233441"/>
                </a:solidFill>
                <a:latin typeface="DM Sans" pitchFamily="34" charset="0"/>
                <a:ea typeface="DM Sans" pitchFamily="34" charset="-122"/>
                <a:cs typeface="DM Sans" pitchFamily="34" charset="-120"/>
              </a:rPr>
              <a:t>Escenarios de volumen y sensibilidad</a:t>
            </a:r>
            <a:endParaRPr lang="en-US" sz="2800" dirty="0"/>
          </a:p>
        </p:txBody>
      </p:sp>
      <p:sp>
        <p:nvSpPr>
          <p:cNvPr id="5" name="Text 2"/>
          <p:cNvSpPr/>
          <p:nvPr/>
        </p:nvSpPr>
        <p:spPr>
          <a:xfrm>
            <a:off x="812800" y="1747441"/>
            <a:ext cx="614807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Margen mensual según novelas vendidas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105558"/>
          <a:ext cx="5956300" cy="2422922"/>
        </p:xfrm>
        <a:graphic>
          <a:graphicData uri="http://schemas.openxmlformats.org/drawingml/2006/table">
            <a:tbl>
              <a:tblPr/>
              <a:tblGrid>
                <a:gridCol w="2025142"/>
                <a:gridCol w="1310386"/>
                <a:gridCol w="1310386"/>
                <a:gridCol w="1310386"/>
              </a:tblGrid>
              <a:tr h="403820">
                <a:tc>
                  <a:txBody>
                    <a:bodyPr/>
                    <a:lstStyle/>
                    <a:p>
                      <a:pPr indent="0" marL="0">
                        <a:lnSpc>
                          <a:spcPts val="1680"/>
                        </a:lnSpc>
                        <a:buNone/>
                      </a:pPr>
                      <a:r>
                        <a:rPr lang="en-US" sz="1200" b="1" dirty="0">
                          <a:solidFill>
                            <a:srgbClr val="FFFFFF"/>
                          </a:solidFill>
                          <a:latin typeface="DM Sans" pitchFamily="34" charset="0"/>
                          <a:ea typeface="DM Sans" pitchFamily="34" charset="-122"/>
                          <a:cs typeface="DM Sans" pitchFamily="34" charset="-120"/>
                        </a:rPr>
                        <a:t>Novelas / mes</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c>
                  <a:txBody>
                    <a:bodyPr/>
                    <a:lstStyle/>
                    <a:p>
                      <a:pPr algn="r" indent="0" marL="0">
                        <a:lnSpc>
                          <a:spcPts val="1680"/>
                        </a:lnSpc>
                        <a:buNone/>
                      </a:pPr>
                      <a:r>
                        <a:rPr lang="en-US" sz="1200" b="1" dirty="0">
                          <a:solidFill>
                            <a:srgbClr val="FFFFFF"/>
                          </a:solidFill>
                          <a:latin typeface="DM Sans" pitchFamily="34" charset="0"/>
                          <a:ea typeface="DM Sans" pitchFamily="34" charset="-122"/>
                          <a:cs typeface="DM Sans" pitchFamily="34" charset="-120"/>
                        </a:rPr>
                        <a:t>50</a:t>
                      </a:r>
                      <a:endParaRPr lang="en-US" sz="1200" dirty="0">
                        <a:latin typeface="DM Sans" charset="0"/>
                        <a:ea typeface="DM Sans" charset="0"/>
                        <a:cs typeface="DM Sans" charset="0"/>
                      </a:endParaRPr>
                    </a:p>
                  </a:txBody>
                  <a:tcPr marL="127000" marR="127000" marT="88900" marB="88900" anchor="t">
                    <a:lnL w="12700" cap="flat" cmpd="sng" algn="ctr">
                      <a:solidFill>
                        <a:srgbClr val="202D37"/>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c>
                  <a:txBody>
                    <a:bodyPr/>
                    <a:lstStyle/>
                    <a:p>
                      <a:pPr algn="r" indent="0" marL="0">
                        <a:lnSpc>
                          <a:spcPts val="1680"/>
                        </a:lnSpc>
                        <a:buNone/>
                      </a:pPr>
                      <a:r>
                        <a:rPr lang="en-US" sz="1200" b="1" dirty="0">
                          <a:solidFill>
                            <a:srgbClr val="FFFFFF"/>
                          </a:solidFill>
                          <a:latin typeface="DM Sans" pitchFamily="34" charset="0"/>
                          <a:ea typeface="DM Sans" pitchFamily="34" charset="-122"/>
                          <a:cs typeface="DM Sans" pitchFamily="34" charset="-120"/>
                        </a:rPr>
                        <a:t>200</a:t>
                      </a:r>
                      <a:endParaRPr lang="en-US" sz="1200" dirty="0">
                        <a:latin typeface="DM Sans" charset="0"/>
                        <a:ea typeface="DM Sans" charset="0"/>
                        <a:cs typeface="DM Sans" charset="0"/>
                      </a:endParaRPr>
                    </a:p>
                  </a:txBody>
                  <a:tcPr marL="127000" marR="127000" marT="88900" marB="88900" anchor="t">
                    <a:lnL w="12700" cap="flat" cmpd="sng" algn="ctr">
                      <a:solidFill>
                        <a:srgbClr val="202D37"/>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c>
                  <a:txBody>
                    <a:bodyPr/>
                    <a:lstStyle/>
                    <a:p>
                      <a:pPr algn="r" indent="0" marL="0">
                        <a:lnSpc>
                          <a:spcPts val="1680"/>
                        </a:lnSpc>
                        <a:buNone/>
                      </a:pPr>
                      <a:r>
                        <a:rPr lang="en-US" sz="1200" b="1" dirty="0">
                          <a:solidFill>
                            <a:srgbClr val="FFFFFF"/>
                          </a:solidFill>
                          <a:latin typeface="DM Sans" pitchFamily="34" charset="0"/>
                          <a:ea typeface="DM Sans" pitchFamily="34" charset="-122"/>
                          <a:cs typeface="DM Sans" pitchFamily="34" charset="-120"/>
                        </a:rPr>
                        <a:t>1.000</a:t>
                      </a:r>
                      <a:endParaRPr lang="en-US" sz="1200" dirty="0">
                        <a:latin typeface="DM Sans" charset="0"/>
                        <a:ea typeface="DM Sans" charset="0"/>
                        <a:cs typeface="DM Sans" charset="0"/>
                      </a:endParaRPr>
                    </a:p>
                  </a:txBody>
                  <a:tcPr marL="127000" marR="127000" marT="88900" marB="88900" anchor="t">
                    <a:lnL w="12700" cap="flat" cmpd="sng" algn="ctr">
                      <a:solidFill>
                        <a:srgbClr val="202D37"/>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r>
              <a:tr h="4038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Ingresos</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1.450 $</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5.800 $</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29.000 $</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038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Coste variable</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164 $</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654 $</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3.270 $</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038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Costes fijos</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40 $</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40 $</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80 $</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038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Margen $</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1.246 $</a:t>
                      </a:r>
                      <a:endParaRPr lang="en-US" sz="1200" dirty="0">
                        <a:latin typeface="DM Sans" charset="0"/>
                        <a:ea typeface="DM Sans" charset="0"/>
                        <a:cs typeface="DM Sans" charset="0"/>
                      </a:endParaRPr>
                    </a:p>
                  </a:txBody>
                  <a:tcPr marL="127000" marR="127000" marT="88900" marB="88900" anchor="t">
                    <a:lnL w="12700" cap="flat" cmpd="sng" algn="ctr">
                      <a:solidFill>
                        <a:srgbClr val="CBC0B9"/>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5.106 $</a:t>
                      </a:r>
                      <a:endParaRPr lang="en-US" sz="1200" dirty="0">
                        <a:latin typeface="DM Sans" charset="0"/>
                        <a:ea typeface="DM Sans" charset="0"/>
                        <a:cs typeface="DM Sans" charset="0"/>
                      </a:endParaRPr>
                    </a:p>
                  </a:txBody>
                  <a:tcPr marL="127000" marR="127000" marT="88900" marB="88900" anchor="t">
                    <a:lnL w="12700" cap="flat" cmpd="sng" algn="ctr">
                      <a:solidFill>
                        <a:srgbClr val="CBC0B9"/>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25.650 $</a:t>
                      </a:r>
                      <a:endParaRPr lang="en-US" sz="1200" dirty="0">
                        <a:latin typeface="DM Sans" charset="0"/>
                        <a:ea typeface="DM Sans" charset="0"/>
                        <a:cs typeface="DM Sans" charset="0"/>
                      </a:endParaRPr>
                    </a:p>
                  </a:txBody>
                  <a:tcPr marL="127000" marR="127000" marT="88900" marB="88900" anchor="t">
                    <a:lnL w="12700" cap="flat" cmpd="sng" algn="ctr">
                      <a:solidFill>
                        <a:srgbClr val="CBC0B9"/>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r>
              <a:tr h="403820">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Margen %</a:t>
                      </a:r>
                      <a:endParaRPr lang="en-US" sz="1200" dirty="0">
                        <a:latin typeface="DM Sans" charset="0"/>
                        <a:ea typeface="DM Sans" charset="0"/>
                        <a:cs typeface="DM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0B9"/>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85,9 %</a:t>
                      </a:r>
                      <a:endParaRPr lang="en-US" sz="1200" dirty="0">
                        <a:latin typeface="DM Sans" charset="0"/>
                        <a:ea typeface="DM Sans" charset="0"/>
                        <a:cs typeface="DM Sans" charset="0"/>
                      </a:endParaRPr>
                    </a:p>
                  </a:txBody>
                  <a:tcPr marL="127000" marR="127000" marT="88900" marB="88900" anchor="t">
                    <a:lnL w="12700" cap="flat" cmpd="sng" algn="ctr">
                      <a:solidFill>
                        <a:srgbClr val="CBC0B9"/>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0B9"/>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88,0 %</a:t>
                      </a:r>
                      <a:endParaRPr lang="en-US" sz="1200" dirty="0">
                        <a:latin typeface="DM Sans" charset="0"/>
                        <a:ea typeface="DM Sans" charset="0"/>
                        <a:cs typeface="DM Sans" charset="0"/>
                      </a:endParaRPr>
                    </a:p>
                  </a:txBody>
                  <a:tcPr marL="127000" marR="127000" marT="88900" marB="88900" anchor="t">
                    <a:lnL w="12700" cap="flat" cmpd="sng" algn="ctr">
                      <a:solidFill>
                        <a:srgbClr val="CBC0B9"/>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0B9"/>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c>
                  <a:txBody>
                    <a:bodyPr/>
                    <a:lstStyle/>
                    <a:p>
                      <a:pPr algn="r" indent="0" marL="0">
                        <a:lnSpc>
                          <a:spcPts val="1680"/>
                        </a:lnSpc>
                        <a:buNone/>
                      </a:pPr>
                      <a:r>
                        <a:rPr lang="en-US" sz="1200" dirty="0">
                          <a:solidFill>
                            <a:srgbClr val="3C4645"/>
                          </a:solidFill>
                          <a:latin typeface="DM Sans" pitchFamily="34" charset="0"/>
                          <a:ea typeface="DM Sans" pitchFamily="34" charset="-122"/>
                          <a:cs typeface="DM Sans" pitchFamily="34" charset="-120"/>
                        </a:rPr>
                        <a:t>88,4 %</a:t>
                      </a:r>
                      <a:endParaRPr lang="en-US" sz="1200" dirty="0">
                        <a:latin typeface="DM Sans" charset="0"/>
                        <a:ea typeface="DM Sans" charset="0"/>
                        <a:cs typeface="DM Sans" charset="0"/>
                      </a:endParaRPr>
                    </a:p>
                  </a:txBody>
                  <a:tcPr marL="127000" marR="127000" marT="88900" marB="88900" anchor="t">
                    <a:lnL w="12700" cap="flat" cmpd="sng" algn="ctr">
                      <a:solidFill>
                        <a:srgbClr val="CBC0B9"/>
                      </a:solidFill>
                      <a:prstDash val="solid"/>
                      <a:round/>
                      <a:headEnd type="none" w="med" len="med"/>
                      <a:tailEnd type="none" w="med" len="med"/>
                    </a:lnL>
                    <a:lnR w="12700" cap="flat" cmpd="sng" algn="ctr">
                      <a:solidFill>
                        <a:srgbClr val="CBC0B9"/>
                      </a:solidFill>
                      <a:prstDash val="solid"/>
                      <a:round/>
                      <a:headEnd type="none" w="med" len="med"/>
                      <a:tailEnd type="none" w="med" len="med"/>
                    </a:lnR>
                    <a:lnT w="12700" cap="flat" cmpd="sng" algn="ctr">
                      <a:solidFill>
                        <a:srgbClr val="CBC0B9"/>
                      </a:solidFill>
                      <a:prstDash val="solid"/>
                      <a:round/>
                      <a:headEnd type="none" w="med" len="med"/>
                      <a:tailEnd type="none" w="med" len="med"/>
                    </a:lnT>
                    <a:lnB w="12700" cap="flat" cmpd="sng" algn="ctr">
                      <a:solidFill>
                        <a:srgbClr val="CBC0B9"/>
                      </a:solidFill>
                      <a:prstDash val="solid"/>
                      <a:round/>
                      <a:headEnd type="none" w="med" len="med"/>
                      <a:tailEnd type="none" w="med" len="med"/>
                    </a:lnB>
                    <a:solidFill>
                      <a:srgbClr val="FFF1E8"/>
                    </a:solidFill>
                  </a:tcPr>
                </a:tc>
              </a:tr>
            </a:tbl>
          </a:graphicData>
        </a:graphic>
      </p:graphicFrame>
      <p:sp>
        <p:nvSpPr>
          <p:cNvPr id="7" name="Text 3"/>
          <p:cNvSpPr/>
          <p:nvPr/>
        </p:nvSpPr>
        <p:spPr>
          <a:xfrm>
            <a:off x="812800" y="4630080"/>
            <a:ext cx="61480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DM Sans" pitchFamily="34" charset="0"/>
                <a:ea typeface="DM Sans" pitchFamily="34" charset="-122"/>
                <a:cs typeface="DM Sans" pitchFamily="34" charset="-120"/>
              </a:rPr>
              <a:t>Variable: 3,27 $ por novela (tokens + margen operativo). Con 1.000 novelas, servidor mayor.</a:t>
            </a:r>
            <a:endParaRPr lang="en-US" sz="1200" dirty="0"/>
          </a:p>
        </p:txBody>
      </p:sp>
      <p:sp>
        <p:nvSpPr>
          <p:cNvPr id="8" name="Shape 4"/>
          <p:cNvSpPr/>
          <p:nvPr/>
        </p:nvSpPr>
        <p:spPr>
          <a:xfrm>
            <a:off x="6934200" y="1747441"/>
            <a:ext cx="4445000" cy="1366375"/>
          </a:xfrm>
          <a:prstGeom prst="roundRect">
            <a:avLst>
              <a:gd name="adj" fmla="val 7436"/>
            </a:avLst>
          </a:prstGeom>
          <a:solidFill>
            <a:srgbClr val="F4F6F8"/>
          </a:solidFill>
          <a:ln/>
        </p:spPr>
      </p:sp>
      <p:sp>
        <p:nvSpPr>
          <p:cNvPr id="9" name="Shape 5"/>
          <p:cNvSpPr/>
          <p:nvPr/>
        </p:nvSpPr>
        <p:spPr>
          <a:xfrm>
            <a:off x="6934200" y="1747441"/>
            <a:ext cx="4445000" cy="1366375"/>
          </a:xfrm>
          <a:custGeom>
            <a:avLst/>
            <a:gdLst/>
            <a:ahLst/>
            <a:cxnLst/>
            <a:rect l="l" t="t" r="r" b="b"/>
            <a:pathLst>
              <a:path w="4445000" h="1366375">
                <a:moveTo>
                  <a:pt x="101600" y="1366375"/>
                </a:moveTo>
                <a:lnTo>
                  <a:pt x="101600" y="1366375"/>
                </a:lnTo>
                <a:arcTo hR="101600" wR="101600" stAng="5400000" swAng="5400000"/>
                <a:lnTo>
                  <a:pt x="0" y="101600"/>
                </a:lnTo>
                <a:arcTo hR="101600" wR="101600" stAng="10800000" swAng="5400000"/>
                <a:lnTo>
                  <a:pt x="101600" y="0"/>
                </a:lnTo>
                <a:arcTo hR="101600" wR="63500" stAng="16200000" swAng="-5400000"/>
                <a:lnTo>
                  <a:pt x="38100" y="1264775"/>
                </a:lnTo>
                <a:arcTo hR="101600" wR="63500" stAng="10800000" swAng="-5400000"/>
                <a:close/>
              </a:path>
            </a:pathLst>
          </a:custGeom>
          <a:solidFill>
            <a:srgbClr val="FF7932"/>
          </a:solidFill>
          <a:ln/>
        </p:spPr>
      </p:sp>
      <p:sp>
        <p:nvSpPr>
          <p:cNvPr id="10" name="Text 6"/>
          <p:cNvSpPr/>
          <p:nvPr/>
        </p:nvSpPr>
        <p:spPr>
          <a:xfrm>
            <a:off x="7150100" y="1925241"/>
            <a:ext cx="417283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Tokens +50 %</a:t>
            </a:r>
            <a:endParaRPr lang="en-US" sz="1600" dirty="0"/>
          </a:p>
        </p:txBody>
      </p:sp>
      <p:sp>
        <p:nvSpPr>
          <p:cNvPr id="11" name="Text 7"/>
          <p:cNvSpPr/>
          <p:nvPr/>
        </p:nvSpPr>
        <p:spPr>
          <a:xfrm>
            <a:off x="7150100" y="2232558"/>
            <a:ext cx="417283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Tokens de 0,41 a 0,62 $; coste unitario 3,68 $. Margen de 88,0 % a 87,3 %.</a:t>
            </a:r>
            <a:endParaRPr lang="en-US" sz="1200" dirty="0"/>
          </a:p>
        </p:txBody>
      </p:sp>
      <p:sp>
        <p:nvSpPr>
          <p:cNvPr id="12" name="Text 8"/>
          <p:cNvSpPr/>
          <p:nvPr/>
        </p:nvSpPr>
        <p:spPr>
          <a:xfrm>
            <a:off x="7150100" y="2722699"/>
            <a:ext cx="41728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C4645"/>
                </a:solidFill>
                <a:latin typeface="DM Sans" pitchFamily="34" charset="0"/>
                <a:ea typeface="DM Sans" pitchFamily="34" charset="-122"/>
                <a:cs typeface="DM Sans" pitchFamily="34" charset="-120"/>
              </a:rPr>
              <a:t>Lectura:</a:t>
            </a:r>
            <a:r>
              <a:rPr lang="en-US" sz="1200" dirty="0">
                <a:solidFill>
                  <a:srgbClr val="3C4645"/>
                </a:solidFill>
                <a:latin typeface="DM Sans" pitchFamily="34" charset="0"/>
                <a:ea typeface="DM Sans" pitchFamily="34" charset="-122"/>
                <a:cs typeface="DM Sans" pitchFamily="34" charset="-120"/>
              </a:rPr>
              <a:t> los tokens son solo el 12 % del coste unitario.</a:t>
            </a:r>
            <a:endParaRPr lang="en-US" sz="1200" dirty="0"/>
          </a:p>
        </p:txBody>
      </p:sp>
      <p:sp>
        <p:nvSpPr>
          <p:cNvPr id="13" name="Shape 9"/>
          <p:cNvSpPr/>
          <p:nvPr/>
        </p:nvSpPr>
        <p:spPr>
          <a:xfrm>
            <a:off x="6934200" y="3266219"/>
            <a:ext cx="4445000" cy="1579695"/>
          </a:xfrm>
          <a:prstGeom prst="roundRect">
            <a:avLst>
              <a:gd name="adj" fmla="val 6432"/>
            </a:avLst>
          </a:prstGeom>
          <a:solidFill>
            <a:srgbClr val="F4F6F8"/>
          </a:solidFill>
          <a:ln/>
        </p:spPr>
      </p:sp>
      <p:sp>
        <p:nvSpPr>
          <p:cNvPr id="14" name="Shape 10"/>
          <p:cNvSpPr/>
          <p:nvPr/>
        </p:nvSpPr>
        <p:spPr>
          <a:xfrm>
            <a:off x="6934200" y="3266219"/>
            <a:ext cx="4445000" cy="1579695"/>
          </a:xfrm>
          <a:custGeom>
            <a:avLst/>
            <a:gdLst/>
            <a:ahLst/>
            <a:cxnLst/>
            <a:rect l="l" t="t" r="r" b="b"/>
            <a:pathLst>
              <a:path w="4445000" h="1579695">
                <a:moveTo>
                  <a:pt x="101600" y="1579695"/>
                </a:moveTo>
                <a:lnTo>
                  <a:pt x="101600" y="1579695"/>
                </a:lnTo>
                <a:arcTo hR="101600" wR="101600" stAng="5400000" swAng="5400000"/>
                <a:lnTo>
                  <a:pt x="0" y="101600"/>
                </a:lnTo>
                <a:arcTo hR="101600" wR="101600" stAng="10800000" swAng="5400000"/>
                <a:lnTo>
                  <a:pt x="101600" y="0"/>
                </a:lnTo>
                <a:arcTo hR="101600" wR="63500" stAng="16200000" swAng="-5400000"/>
                <a:lnTo>
                  <a:pt x="38100" y="1478095"/>
                </a:lnTo>
                <a:arcTo hR="101600" wR="63500" stAng="10800000" swAng="-5400000"/>
                <a:close/>
              </a:path>
            </a:pathLst>
          </a:custGeom>
          <a:solidFill>
            <a:srgbClr val="FF7932"/>
          </a:solidFill>
          <a:ln/>
        </p:spPr>
      </p:sp>
      <p:sp>
        <p:nvSpPr>
          <p:cNvPr id="15" name="Text 11"/>
          <p:cNvSpPr/>
          <p:nvPr/>
        </p:nvSpPr>
        <p:spPr>
          <a:xfrm>
            <a:off x="7150100" y="3444019"/>
            <a:ext cx="417283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Más de 3 revisiones</a:t>
            </a:r>
            <a:endParaRPr lang="en-US" sz="1600" dirty="0"/>
          </a:p>
        </p:txBody>
      </p:sp>
      <p:sp>
        <p:nvSpPr>
          <p:cNvPr id="16" name="Text 12"/>
          <p:cNvSpPr/>
          <p:nvPr/>
        </p:nvSpPr>
        <p:spPr>
          <a:xfrm>
            <a:off x="7150100" y="3751331"/>
            <a:ext cx="417283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Solo se regeneran los capítulos afectados: unos 0,12 $ de tokens por revisión.</a:t>
            </a:r>
            <a:endParaRPr lang="en-US" sz="1200" dirty="0"/>
          </a:p>
        </p:txBody>
      </p:sp>
      <p:sp>
        <p:nvSpPr>
          <p:cNvPr id="17" name="Text 13"/>
          <p:cNvSpPr/>
          <p:nvPr/>
        </p:nvSpPr>
        <p:spPr>
          <a:xfrm>
            <a:off x="7150100" y="4241471"/>
            <a:ext cx="417283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C4645"/>
                </a:solidFill>
                <a:latin typeface="DM Sans" pitchFamily="34" charset="0"/>
                <a:ea typeface="DM Sans" pitchFamily="34" charset="-122"/>
                <a:cs typeface="DM Sans" pitchFamily="34" charset="-120"/>
              </a:rPr>
              <a:t>Propuesta:</a:t>
            </a:r>
            <a:r>
              <a:rPr lang="en-US" sz="1200" dirty="0">
                <a:solidFill>
                  <a:srgbClr val="3C4645"/>
                </a:solidFill>
                <a:latin typeface="DM Sans" pitchFamily="34" charset="0"/>
                <a:ea typeface="DM Sans" pitchFamily="34" charset="-122"/>
                <a:cs typeface="DM Sans" pitchFamily="34" charset="-120"/>
              </a:rPr>
              <a:t> 3 incluidas; desde la 4ª, 1,99 $ para cubrir soporte.</a:t>
            </a:r>
            <a:endParaRPr lang="en-US" sz="1200" dirty="0"/>
          </a:p>
        </p:txBody>
      </p:sp>
      <p:sp>
        <p:nvSpPr>
          <p:cNvPr id="18" name="Text 14"/>
          <p:cNvSpPr/>
          <p:nvPr/>
        </p:nvSpPr>
        <p:spPr>
          <a:xfrm>
            <a:off x="812800" y="6238280"/>
            <a:ext cx="308800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93A0AB"/>
                </a:solidFill>
                <a:latin typeface="DM Sans" pitchFamily="34" charset="0"/>
                <a:ea typeface="DM Sans" pitchFamily="34" charset="-122"/>
                <a:cs typeface="DM Sans" pitchFamily="34" charset="-120"/>
              </a:rPr>
              <a:t>© Qaracter group, all rights reserved 2026</a:t>
            </a:r>
            <a:endParaRPr lang="en-US" sz="1200" dirty="0"/>
          </a:p>
        </p:txBody>
      </p:sp>
      <p:sp>
        <p:nvSpPr>
          <p:cNvPr id="19" name="Text 15"/>
          <p:cNvSpPr/>
          <p:nvPr/>
        </p:nvSpPr>
        <p:spPr>
          <a:xfrm>
            <a:off x="11268208" y="6238280"/>
            <a:ext cx="1617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3A0AB"/>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33441"/>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1074400" y="762000"/>
            <a:ext cx="304800" cy="304800"/>
          </a:xfrm>
          <a:prstGeom prst="rect">
            <a:avLst/>
          </a:prstGeom>
        </p:spPr>
      </p:pic>
      <p:sp>
        <p:nvSpPr>
          <p:cNvPr id="3" name="Text 0"/>
          <p:cNvSpPr/>
          <p:nvPr/>
        </p:nvSpPr>
        <p:spPr>
          <a:xfrm>
            <a:off x="812800" y="81280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07 · DEMO Y CIERRE</a:t>
            </a:r>
            <a:endParaRPr lang="en-US" sz="1200" dirty="0"/>
          </a:p>
        </p:txBody>
      </p:sp>
      <p:sp>
        <p:nvSpPr>
          <p:cNvPr id="4" name="Text 1"/>
          <p:cNvSpPr/>
          <p:nvPr/>
        </p:nvSpPr>
        <p:spPr>
          <a:xfrm>
            <a:off x="812800" y="1102320"/>
            <a:ext cx="10203180" cy="416520"/>
          </a:xfrm>
          <a:prstGeom prst="rect">
            <a:avLst/>
          </a:prstGeom>
          <a:noFill/>
          <a:ln/>
        </p:spPr>
        <p:txBody>
          <a:bodyPr wrap="square" lIns="0" tIns="0" rIns="0" bIns="0" rtlCol="0" anchor="t">
            <a:normAutofit/>
          </a:bodyPr>
          <a:lstStyle/>
          <a:p>
            <a:pPr algn="l" indent="0" marL="0">
              <a:lnSpc>
                <a:spcPts val="3080"/>
              </a:lnSpc>
              <a:buNone/>
            </a:pPr>
            <a:r>
              <a:rPr lang="en-US" sz="2800" b="1" spc="-50" kern="0" dirty="0">
                <a:solidFill>
                  <a:srgbClr val="FFFFFF"/>
                </a:solidFill>
                <a:latin typeface="DM Sans" pitchFamily="34" charset="0"/>
                <a:ea typeface="DM Sans" pitchFamily="34" charset="-122"/>
                <a:cs typeface="DM Sans" pitchFamily="34" charset="-120"/>
              </a:rPr>
              <a:t>Demo: un cambio del lector que se propaga</a:t>
            </a:r>
            <a:endParaRPr lang="en-US" sz="2800" dirty="0"/>
          </a:p>
        </p:txBody>
      </p:sp>
      <p:sp>
        <p:nvSpPr>
          <p:cNvPr id="5" name="Shape 2"/>
          <p:cNvSpPr/>
          <p:nvPr/>
        </p:nvSpPr>
        <p:spPr>
          <a:xfrm>
            <a:off x="812800" y="2011561"/>
            <a:ext cx="2260600" cy="1485768"/>
          </a:xfrm>
          <a:prstGeom prst="roundRect">
            <a:avLst>
              <a:gd name="adj" fmla="val 6838"/>
            </a:avLst>
          </a:prstGeom>
          <a:solidFill>
            <a:srgbClr val="2E4252"/>
          </a:solidFill>
          <a:ln/>
        </p:spPr>
      </p:sp>
      <p:sp>
        <p:nvSpPr>
          <p:cNvPr id="6" name="Text 3"/>
          <p:cNvSpPr/>
          <p:nvPr/>
        </p:nvSpPr>
        <p:spPr>
          <a:xfrm>
            <a:off x="990600" y="2189361"/>
            <a:ext cx="1962150"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7932"/>
                </a:solidFill>
                <a:latin typeface="DM Sans" pitchFamily="34" charset="0"/>
                <a:ea typeface="DM Sans" pitchFamily="34" charset="-122"/>
                <a:cs typeface="DM Sans" pitchFamily="34" charset="-120"/>
              </a:rPr>
              <a:t>1</a:t>
            </a:r>
            <a:endParaRPr lang="en-US" sz="2200" dirty="0"/>
          </a:p>
        </p:txBody>
      </p:sp>
      <p:sp>
        <p:nvSpPr>
          <p:cNvPr id="7" name="Text 4"/>
          <p:cNvSpPr/>
          <p:nvPr/>
        </p:nvSpPr>
        <p:spPr>
          <a:xfrm>
            <a:off x="990600" y="2572879"/>
            <a:ext cx="196215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FFFF"/>
                </a:solidFill>
                <a:latin typeface="DM Sans" pitchFamily="34" charset="0"/>
                <a:ea typeface="DM Sans" pitchFamily="34" charset="-122"/>
                <a:cs typeface="DM Sans" pitchFamily="34" charset="-120"/>
              </a:rPr>
              <a:t>Pide un cambio</a:t>
            </a:r>
            <a:endParaRPr lang="en-US" sz="1600" dirty="0"/>
          </a:p>
        </p:txBody>
      </p:sp>
      <p:sp>
        <p:nvSpPr>
          <p:cNvPr id="8" name="Text 5"/>
          <p:cNvSpPr/>
          <p:nvPr/>
        </p:nvSpPr>
        <p:spPr>
          <a:xfrm>
            <a:off x="990600" y="2892890"/>
            <a:ext cx="19621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9"/>
                </a:solidFill>
                <a:latin typeface="DM Sans" pitchFamily="34" charset="0"/>
                <a:ea typeface="DM Sans" pitchFamily="34" charset="-122"/>
                <a:cs typeface="DM Sans" pitchFamily="34" charset="-120"/>
              </a:rPr>
              <a:t>«El perro se llama Nala», sobre el hecho del perro.</a:t>
            </a:r>
            <a:endParaRPr lang="en-US" sz="1200" dirty="0"/>
          </a:p>
        </p:txBody>
      </p:sp>
      <p:pic>
        <p:nvPicPr>
          <p:cNvPr id="9" name="Image 1" descr="arrow-right">    </p:cNvPr>
          <p:cNvPicPr>
            <a:picLocks noChangeAspect="1"/>
          </p:cNvPicPr>
          <p:nvPr/>
        </p:nvPicPr>
        <p:blipFill>
          <a:blip r:embed="rId2"/>
          <a:srcRect l="0" r="0" t="0" b="0"/>
          <a:stretch/>
        </p:blipFill>
        <p:spPr>
          <a:xfrm>
            <a:off x="3175000" y="2678249"/>
            <a:ext cx="304800" cy="152400"/>
          </a:xfrm>
          <a:prstGeom prst="rect">
            <a:avLst/>
          </a:prstGeom>
        </p:spPr>
      </p:pic>
      <p:sp>
        <p:nvSpPr>
          <p:cNvPr id="10" name="Shape 6"/>
          <p:cNvSpPr/>
          <p:nvPr/>
        </p:nvSpPr>
        <p:spPr>
          <a:xfrm>
            <a:off x="3581400" y="1798241"/>
            <a:ext cx="2260600" cy="1912408"/>
          </a:xfrm>
          <a:prstGeom prst="roundRect">
            <a:avLst>
              <a:gd name="adj" fmla="val 5313"/>
            </a:avLst>
          </a:prstGeom>
          <a:solidFill>
            <a:srgbClr val="2E4252"/>
          </a:solidFill>
          <a:ln/>
        </p:spPr>
      </p:sp>
      <p:sp>
        <p:nvSpPr>
          <p:cNvPr id="11" name="Text 7"/>
          <p:cNvSpPr/>
          <p:nvPr/>
        </p:nvSpPr>
        <p:spPr>
          <a:xfrm>
            <a:off x="3759200" y="1976041"/>
            <a:ext cx="1962150"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7932"/>
                </a:solidFill>
                <a:latin typeface="DM Sans" pitchFamily="34" charset="0"/>
                <a:ea typeface="DM Sans" pitchFamily="34" charset="-122"/>
                <a:cs typeface="DM Sans" pitchFamily="34" charset="-120"/>
              </a:rPr>
              <a:t>2</a:t>
            </a:r>
            <a:endParaRPr lang="en-US" sz="2200" dirty="0"/>
          </a:p>
        </p:txBody>
      </p:sp>
      <p:sp>
        <p:nvSpPr>
          <p:cNvPr id="12" name="Text 8"/>
          <p:cNvSpPr/>
          <p:nvPr/>
        </p:nvSpPr>
        <p:spPr>
          <a:xfrm>
            <a:off x="3759200" y="2359558"/>
            <a:ext cx="196215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FFFF"/>
                </a:solidFill>
                <a:latin typeface="DM Sans" pitchFamily="34" charset="0"/>
                <a:ea typeface="DM Sans" pitchFamily="34" charset="-122"/>
                <a:cs typeface="DM Sans" pitchFamily="34" charset="-120"/>
              </a:rPr>
              <a:t>Impacto</a:t>
            </a:r>
            <a:endParaRPr lang="en-US" sz="1600" dirty="0"/>
          </a:p>
        </p:txBody>
      </p:sp>
      <p:sp>
        <p:nvSpPr>
          <p:cNvPr id="13" name="Text 9"/>
          <p:cNvSpPr/>
          <p:nvPr/>
        </p:nvSpPr>
        <p:spPr>
          <a:xfrm>
            <a:off x="3759200" y="2679570"/>
            <a:ext cx="196215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9"/>
                </a:solidFill>
                <a:latin typeface="DM Sans" pitchFamily="34" charset="0"/>
                <a:ea typeface="DM Sans" pitchFamily="34" charset="-122"/>
                <a:cs typeface="DM Sans" pitchFamily="34" charset="-120"/>
              </a:rPr>
              <a:t>El perro sale en los capítulos 1 y 3: se devuelven esos dos, no los tres.</a:t>
            </a:r>
            <a:endParaRPr lang="en-US" sz="1200" dirty="0"/>
          </a:p>
        </p:txBody>
      </p:sp>
      <p:pic>
        <p:nvPicPr>
          <p:cNvPr id="14" name="Image 2" descr="arrow-right">    </p:cNvPr>
          <p:cNvPicPr>
            <a:picLocks noChangeAspect="1"/>
          </p:cNvPicPr>
          <p:nvPr/>
        </p:nvPicPr>
        <p:blipFill>
          <a:blip r:embed="rId3"/>
          <a:srcRect l="0" r="0" t="0" b="0"/>
          <a:stretch/>
        </p:blipFill>
        <p:spPr>
          <a:xfrm>
            <a:off x="5943600" y="2678249"/>
            <a:ext cx="304800" cy="152400"/>
          </a:xfrm>
          <a:prstGeom prst="rect">
            <a:avLst/>
          </a:prstGeom>
        </p:spPr>
      </p:pic>
      <p:sp>
        <p:nvSpPr>
          <p:cNvPr id="15" name="Shape 10"/>
          <p:cNvSpPr/>
          <p:nvPr/>
        </p:nvSpPr>
        <p:spPr>
          <a:xfrm>
            <a:off x="6350000" y="1904870"/>
            <a:ext cx="2260600" cy="1699088"/>
          </a:xfrm>
          <a:prstGeom prst="roundRect">
            <a:avLst>
              <a:gd name="adj" fmla="val 5980"/>
            </a:avLst>
          </a:prstGeom>
          <a:solidFill>
            <a:srgbClr val="2E4252"/>
          </a:solidFill>
          <a:ln/>
        </p:spPr>
      </p:sp>
      <p:sp>
        <p:nvSpPr>
          <p:cNvPr id="16" name="Text 11"/>
          <p:cNvSpPr/>
          <p:nvPr/>
        </p:nvSpPr>
        <p:spPr>
          <a:xfrm>
            <a:off x="6527800" y="2082670"/>
            <a:ext cx="1962150"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7932"/>
                </a:solidFill>
                <a:latin typeface="DM Sans" pitchFamily="34" charset="0"/>
                <a:ea typeface="DM Sans" pitchFamily="34" charset="-122"/>
                <a:cs typeface="DM Sans" pitchFamily="34" charset="-120"/>
              </a:rPr>
              <a:t>3</a:t>
            </a:r>
            <a:endParaRPr lang="en-US" sz="2200" dirty="0"/>
          </a:p>
        </p:txBody>
      </p:sp>
      <p:sp>
        <p:nvSpPr>
          <p:cNvPr id="17" name="Text 12"/>
          <p:cNvSpPr/>
          <p:nvPr/>
        </p:nvSpPr>
        <p:spPr>
          <a:xfrm>
            <a:off x="6527800" y="2466181"/>
            <a:ext cx="196215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FFFF"/>
                </a:solidFill>
                <a:latin typeface="DM Sans" pitchFamily="34" charset="0"/>
                <a:ea typeface="DM Sans" pitchFamily="34" charset="-122"/>
                <a:cs typeface="DM Sans" pitchFamily="34" charset="-120"/>
              </a:rPr>
              <a:t>Regeneración</a:t>
            </a:r>
            <a:endParaRPr lang="en-US" sz="1600" dirty="0"/>
          </a:p>
        </p:txBody>
      </p:sp>
      <p:sp>
        <p:nvSpPr>
          <p:cNvPr id="18" name="Text 13"/>
          <p:cNvSpPr/>
          <p:nvPr/>
        </p:nvSpPr>
        <p:spPr>
          <a:xfrm>
            <a:off x="6527800" y="2786199"/>
            <a:ext cx="196215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9"/>
                </a:solidFill>
                <a:latin typeface="DM Sans" pitchFamily="34" charset="0"/>
                <a:ea typeface="DM Sans" pitchFamily="34" charset="-122"/>
                <a:cs typeface="DM Sans" pitchFamily="34" charset="-120"/>
              </a:rPr>
              <a:t>Solo esos capítulos vuelven a escritura y a los hooks.</a:t>
            </a:r>
            <a:endParaRPr lang="en-US" sz="1200" dirty="0"/>
          </a:p>
        </p:txBody>
      </p:sp>
      <p:pic>
        <p:nvPicPr>
          <p:cNvPr id="19" name="Image 3" descr="arrow-right">    </p:cNvPr>
          <p:cNvPicPr>
            <a:picLocks noChangeAspect="1"/>
          </p:cNvPicPr>
          <p:nvPr/>
        </p:nvPicPr>
        <p:blipFill>
          <a:blip r:embed="rId4"/>
          <a:srcRect l="0" r="0" t="0" b="0"/>
          <a:stretch/>
        </p:blipFill>
        <p:spPr>
          <a:xfrm>
            <a:off x="8712200" y="2678249"/>
            <a:ext cx="304800" cy="152400"/>
          </a:xfrm>
          <a:prstGeom prst="rect">
            <a:avLst/>
          </a:prstGeom>
        </p:spPr>
      </p:pic>
      <p:sp>
        <p:nvSpPr>
          <p:cNvPr id="20" name="Shape 14"/>
          <p:cNvSpPr/>
          <p:nvPr/>
        </p:nvSpPr>
        <p:spPr>
          <a:xfrm>
            <a:off x="9118600" y="1904870"/>
            <a:ext cx="2260600" cy="1699088"/>
          </a:xfrm>
          <a:prstGeom prst="roundRect">
            <a:avLst>
              <a:gd name="adj" fmla="val 5980"/>
            </a:avLst>
          </a:prstGeom>
          <a:solidFill>
            <a:srgbClr val="2E4252"/>
          </a:solidFill>
          <a:ln/>
        </p:spPr>
      </p:sp>
      <p:sp>
        <p:nvSpPr>
          <p:cNvPr id="21" name="Text 15"/>
          <p:cNvSpPr/>
          <p:nvPr/>
        </p:nvSpPr>
        <p:spPr>
          <a:xfrm>
            <a:off x="9296400" y="2082670"/>
            <a:ext cx="1962150"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7932"/>
                </a:solidFill>
                <a:latin typeface="DM Sans" pitchFamily="34" charset="0"/>
                <a:ea typeface="DM Sans" pitchFamily="34" charset="-122"/>
                <a:cs typeface="DM Sans" pitchFamily="34" charset="-120"/>
              </a:rPr>
              <a:t>4</a:t>
            </a:r>
            <a:endParaRPr lang="en-US" sz="2200" dirty="0"/>
          </a:p>
        </p:txBody>
      </p:sp>
      <p:sp>
        <p:nvSpPr>
          <p:cNvPr id="22" name="Text 16"/>
          <p:cNvSpPr/>
          <p:nvPr/>
        </p:nvSpPr>
        <p:spPr>
          <a:xfrm>
            <a:off x="9296400" y="2466181"/>
            <a:ext cx="196215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FFFF"/>
                </a:solidFill>
                <a:latin typeface="DM Sans" pitchFamily="34" charset="0"/>
                <a:ea typeface="DM Sans" pitchFamily="34" charset="-122"/>
                <a:cs typeface="DM Sans" pitchFamily="34" charset="-120"/>
              </a:rPr>
              <a:t>Versión 2</a:t>
            </a:r>
            <a:endParaRPr lang="en-US" sz="1600" dirty="0"/>
          </a:p>
        </p:txBody>
      </p:sp>
      <p:sp>
        <p:nvSpPr>
          <p:cNvPr id="23" name="Text 17"/>
          <p:cNvSpPr/>
          <p:nvPr/>
        </p:nvSpPr>
        <p:spPr>
          <a:xfrm>
            <a:off x="9296400" y="2786199"/>
            <a:ext cx="196215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9"/>
                </a:solidFill>
                <a:latin typeface="DM Sans" pitchFamily="34" charset="0"/>
                <a:ea typeface="DM Sans" pitchFamily="34" charset="-122"/>
                <a:cs typeface="DM Sans" pitchFamily="34" charset="-120"/>
              </a:rPr>
              <a:t>El índice marca los capítulos cambiados y el PDF se regenera.</a:t>
            </a:r>
            <a:endParaRPr lang="en-US" sz="1200" dirty="0"/>
          </a:p>
        </p:txBody>
      </p:sp>
      <p:sp>
        <p:nvSpPr>
          <p:cNvPr id="24" name="Shape 18"/>
          <p:cNvSpPr/>
          <p:nvPr/>
        </p:nvSpPr>
        <p:spPr>
          <a:xfrm>
            <a:off x="819150" y="4021801"/>
            <a:ext cx="10553700" cy="617207"/>
          </a:xfrm>
          <a:prstGeom prst="roundRect">
            <a:avLst>
              <a:gd name="adj" fmla="val 15432"/>
            </a:avLst>
          </a:prstGeom>
          <a:noFill/>
          <a:ln w="12700">
            <a:solidFill>
              <a:srgbClr val="4A5D6D"/>
            </a:solidFill>
            <a:prstDash val="solid"/>
          </a:ln>
        </p:spPr>
      </p:sp>
      <p:sp>
        <p:nvSpPr>
          <p:cNvPr id="25" name="Text 19"/>
          <p:cNvSpPr/>
          <p:nvPr/>
        </p:nvSpPr>
        <p:spPr>
          <a:xfrm>
            <a:off x="1028700" y="4223742"/>
            <a:ext cx="10740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7932"/>
                </a:solidFill>
                <a:latin typeface="DM Sans" pitchFamily="34" charset="0"/>
                <a:ea typeface="DM Sans" pitchFamily="34" charset="-122"/>
                <a:cs typeface="DM Sans" pitchFamily="34" charset="-120"/>
              </a:rPr>
              <a:t>CONTRASTE</a:t>
            </a:r>
            <a:endParaRPr lang="en-US" sz="1200" dirty="0"/>
          </a:p>
        </p:txBody>
      </p:sp>
      <p:sp>
        <p:nvSpPr>
          <p:cNvPr id="26" name="Text 20"/>
          <p:cNvSpPr/>
          <p:nvPr/>
        </p:nvSpPr>
        <p:spPr>
          <a:xfrm>
            <a:off x="2204310" y="4205951"/>
            <a:ext cx="151143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CE3E9"/>
                </a:solidFill>
                <a:latin typeface="DM Sans" pitchFamily="34" charset="0"/>
                <a:ea typeface="DM Sans" pitchFamily="34" charset="-122"/>
                <a:cs typeface="DM Sans" pitchFamily="34" charset="-120"/>
              </a:rPr>
              <a:t>«La casa era azul»</a:t>
            </a:r>
            <a:endParaRPr lang="en-US" sz="1400" dirty="0"/>
          </a:p>
        </p:txBody>
      </p:sp>
      <p:pic>
        <p:nvPicPr>
          <p:cNvPr id="27" name="Image 4" descr="arrow-right">    </p:cNvPr>
          <p:cNvPicPr>
            <a:picLocks noChangeAspect="1"/>
          </p:cNvPicPr>
          <p:nvPr/>
        </p:nvPicPr>
        <p:blipFill>
          <a:blip r:embed="rId5"/>
          <a:srcRect l="0" r="0" t="0" b="0"/>
          <a:stretch/>
        </p:blipFill>
        <p:spPr>
          <a:xfrm>
            <a:off x="3817342" y="4254171"/>
            <a:ext cx="304800" cy="152400"/>
          </a:xfrm>
          <a:prstGeom prst="rect">
            <a:avLst/>
          </a:prstGeom>
        </p:spPr>
      </p:pic>
      <p:sp>
        <p:nvSpPr>
          <p:cNvPr id="28" name="Text 21"/>
          <p:cNvSpPr/>
          <p:nvPr/>
        </p:nvSpPr>
        <p:spPr>
          <a:xfrm>
            <a:off x="4274542" y="4205951"/>
            <a:ext cx="4380295"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DM Sans" pitchFamily="34" charset="0"/>
                <a:ea typeface="DM Sans" pitchFamily="34" charset="-122"/>
                <a:cs typeface="DM Sans" pitchFamily="34" charset="-120"/>
              </a:rPr>
              <a:t>solo afecta al </a:t>
            </a:r>
            <a:r>
              <a:rPr lang="en-US" sz="1400" b="1" dirty="0">
                <a:solidFill>
                  <a:srgbClr val="FFFFFF"/>
                </a:solidFill>
                <a:latin typeface="DM Sans" pitchFamily="34" charset="0"/>
                <a:ea typeface="DM Sans" pitchFamily="34" charset="-122"/>
                <a:cs typeface="DM Sans" pitchFamily="34" charset="-120"/>
              </a:rPr>
              <a:t>capítulo 1</a:t>
            </a:r>
            <a:r>
              <a:rPr lang="en-US" sz="1400" dirty="0">
                <a:solidFill>
                  <a:srgbClr val="FFFFFF"/>
                </a:solidFill>
                <a:latin typeface="DM Sans" pitchFamily="34" charset="0"/>
                <a:ea typeface="DM Sans" pitchFamily="34" charset="-122"/>
                <a:cs typeface="DM Sans" pitchFamily="34" charset="-120"/>
              </a:rPr>
              <a:t>, el único donde sale la casa</a:t>
            </a:r>
            <a:endParaRPr lang="en-US" sz="1400" dirty="0"/>
          </a:p>
        </p:txBody>
      </p:sp>
      <p:sp>
        <p:nvSpPr>
          <p:cNvPr id="29" name="Text 22"/>
          <p:cNvSpPr/>
          <p:nvPr/>
        </p:nvSpPr>
        <p:spPr>
          <a:xfrm>
            <a:off x="812800" y="6238280"/>
            <a:ext cx="308800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8FA0AE"/>
                </a:solidFill>
                <a:latin typeface="DM Sans" pitchFamily="34" charset="0"/>
                <a:ea typeface="DM Sans" pitchFamily="34" charset="-122"/>
                <a:cs typeface="DM Sans" pitchFamily="34" charset="-120"/>
              </a:rPr>
              <a:t>© Qaracter group, all rights reserved 2026</a:t>
            </a:r>
            <a:endParaRPr lang="en-US" sz="1200" dirty="0"/>
          </a:p>
        </p:txBody>
      </p:sp>
      <p:sp>
        <p:nvSpPr>
          <p:cNvPr id="30" name="Text 23"/>
          <p:cNvSpPr/>
          <p:nvPr/>
        </p:nvSpPr>
        <p:spPr>
          <a:xfrm>
            <a:off x="11235730" y="6238280"/>
            <a:ext cx="1942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A0AE"/>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1074400" y="762000"/>
            <a:ext cx="304800" cy="304800"/>
          </a:xfrm>
          <a:prstGeom prst="rect">
            <a:avLst/>
          </a:prstGeom>
        </p:spPr>
      </p:pic>
      <p:sp>
        <p:nvSpPr>
          <p:cNvPr id="3" name="Text 0"/>
          <p:cNvSpPr/>
          <p:nvPr/>
        </p:nvSpPr>
        <p:spPr>
          <a:xfrm>
            <a:off x="812800" y="81280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07 · DEMO Y CIERRE</a:t>
            </a:r>
            <a:endParaRPr lang="en-US" sz="1200" dirty="0"/>
          </a:p>
        </p:txBody>
      </p:sp>
      <p:sp>
        <p:nvSpPr>
          <p:cNvPr id="4" name="Text 1"/>
          <p:cNvSpPr/>
          <p:nvPr/>
        </p:nvSpPr>
        <p:spPr>
          <a:xfrm>
            <a:off x="812800" y="1102320"/>
            <a:ext cx="10203180" cy="416520"/>
          </a:xfrm>
          <a:prstGeom prst="rect">
            <a:avLst/>
          </a:prstGeom>
          <a:noFill/>
          <a:ln/>
        </p:spPr>
        <p:txBody>
          <a:bodyPr wrap="square" lIns="0" tIns="0" rIns="0" bIns="0" rtlCol="0" anchor="t">
            <a:normAutofit/>
          </a:bodyPr>
          <a:lstStyle/>
          <a:p>
            <a:pPr algn="l" indent="0" marL="0">
              <a:lnSpc>
                <a:spcPts val="3080"/>
              </a:lnSpc>
              <a:buNone/>
            </a:pPr>
            <a:r>
              <a:rPr lang="en-US" sz="2800" b="1" spc="-50" kern="0" dirty="0">
                <a:solidFill>
                  <a:srgbClr val="233441"/>
                </a:solidFill>
                <a:latin typeface="DM Sans" pitchFamily="34" charset="0"/>
                <a:ea typeface="DM Sans" pitchFamily="34" charset="-122"/>
                <a:cs typeface="DM Sans" pitchFamily="34" charset="-120"/>
              </a:rPr>
              <a:t>Riesgos y siguientes pasos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60141"/>
          <a:ext cx="6591300" cy="2999383"/>
        </p:xfrm>
        <a:graphic>
          <a:graphicData uri="http://schemas.openxmlformats.org/drawingml/2006/table">
            <a:tbl>
              <a:tblPr/>
              <a:tblGrid>
                <a:gridCol w="2900172"/>
                <a:gridCol w="3691128"/>
              </a:tblGrid>
              <a:tr h="429220">
                <a:tc>
                  <a:txBody>
                    <a:bodyPr/>
                    <a:lstStyle/>
                    <a:p>
                      <a:pPr indent="0" marL="0">
                        <a:lnSpc>
                          <a:spcPts val="1680"/>
                        </a:lnSpc>
                        <a:buNone/>
                      </a:pPr>
                      <a:r>
                        <a:rPr lang="en-US" sz="1200" b="1" dirty="0">
                          <a:solidFill>
                            <a:srgbClr val="FFFFFF"/>
                          </a:solidFill>
                          <a:latin typeface="DM Sans" pitchFamily="34" charset="0"/>
                          <a:ea typeface="DM Sans" pitchFamily="34" charset="-122"/>
                          <a:cs typeface="DM Sans" pitchFamily="34" charset="-120"/>
                        </a:rPr>
                        <a:t>Riesgo detectado</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c>
                  <a:txBody>
                    <a:bodyPr/>
                    <a:lstStyle/>
                    <a:p>
                      <a:pPr indent="0" marL="0">
                        <a:lnSpc>
                          <a:spcPts val="1680"/>
                        </a:lnSpc>
                        <a:buNone/>
                      </a:pPr>
                      <a:r>
                        <a:rPr lang="en-US" sz="1200" b="1" dirty="0">
                          <a:solidFill>
                            <a:srgbClr val="FFFFFF"/>
                          </a:solidFill>
                          <a:latin typeface="DM Sans" pitchFamily="34" charset="0"/>
                          <a:ea typeface="DM Sans" pitchFamily="34" charset="-122"/>
                          <a:cs typeface="DM Sans" pitchFamily="34" charset="-120"/>
                        </a:rPr>
                        <a:t>Mitigación</a:t>
                      </a:r>
                      <a:endParaRPr lang="en-US" sz="1200" dirty="0">
                        <a:latin typeface="DM Sans" charset="0"/>
                        <a:ea typeface="DM Sans" charset="0"/>
                        <a:cs typeface="DM Sans" charset="0"/>
                      </a:endParaRPr>
                    </a:p>
                  </a:txBody>
                  <a:tcPr marL="127000" marR="127000" marT="101600" marB="101600" anchor="t">
                    <a:lnL w="12700" cap="flat" cmpd="sng" algn="ctr">
                      <a:solidFill>
                        <a:srgbClr val="202D37"/>
                      </a:solidFill>
                      <a:prstDash val="solid"/>
                      <a:round/>
                      <a:headEnd type="none" w="med" len="med"/>
                      <a:tailEnd type="none" w="med" len="med"/>
                    </a:lnL>
                    <a:lnR w="12700" cap="flat" cmpd="sng" algn="ctr">
                      <a:solidFill>
                        <a:srgbClr val="202D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2D37"/>
                      </a:solidFill>
                      <a:prstDash val="solid"/>
                      <a:round/>
                      <a:headEnd type="none" w="med" len="med"/>
                      <a:tailEnd type="none" w="med" len="med"/>
                    </a:lnB>
                    <a:solidFill>
                      <a:srgbClr val="233441"/>
                    </a:solidFill>
                  </a:tcPr>
                </a:tc>
              </a:tr>
              <a:tr h="642541">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Extensión muy corta (H-06)</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Que el Planner reparta escenas según la extensión; Redactor v1.2.0</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2D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42541">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Validadores sin conectar (H-02, H-03)</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El Planner escribe fechas; Lean y elementos obligatorios en la tubería</a:t>
                      </a:r>
                      <a:endParaRPr lang="en-US" sz="1200" dirty="0">
                        <a:latin typeface="DM Sans" charset="0"/>
                        <a:ea typeface="DM Sans" charset="0"/>
                        <a:cs typeface="DM Sans" charset="0"/>
                      </a:endParaRPr>
                    </a:p>
                  </a:txBody>
                  <a:tcPr marL="127000" marR="127000" marT="101600" marB="1016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642541">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Injection por recuerdos (H-07, H-08)</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Envolver también recuerdos y rasgos; ampliar los patrones</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42541">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Falsos positivos de nombres (H-04)</a:t>
                      </a:r>
                      <a:endParaRPr lang="en-US" sz="1200" dirty="0">
                        <a:latin typeface="DM Sans" charset="0"/>
                        <a:ea typeface="DM Sans" charset="0"/>
                        <a:cs typeface="DM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680"/>
                        </a:lnSpc>
                        <a:buNone/>
                      </a:pPr>
                      <a:r>
                        <a:rPr lang="en-US" sz="1200" dirty="0">
                          <a:solidFill>
                            <a:srgbClr val="3C4645"/>
                          </a:solidFill>
                          <a:latin typeface="DM Sans" pitchFamily="34" charset="0"/>
                          <a:ea typeface="DM Sans" pitchFamily="34" charset="-122"/>
                          <a:cs typeface="DM Sans" pitchFamily="34" charset="-120"/>
                        </a:rPr>
                        <a:t>Severidad según longitud del nombre y palabras comunes</a:t>
                      </a:r>
                      <a:endParaRPr lang="en-US" sz="1200" dirty="0">
                        <a:latin typeface="DM Sans" charset="0"/>
                        <a:ea typeface="DM Sans" charset="0"/>
                        <a:cs typeface="DM Sans" charset="0"/>
                      </a:endParaRPr>
                    </a:p>
                  </a:txBody>
                  <a:tcPr marL="127000" marR="127000" marT="101600" marB="1016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bl>
          </a:graphicData>
        </a:graphic>
      </p:graphicFrame>
      <p:sp>
        <p:nvSpPr>
          <p:cNvPr id="6" name="Shape 2"/>
          <p:cNvSpPr/>
          <p:nvPr/>
        </p:nvSpPr>
        <p:spPr>
          <a:xfrm>
            <a:off x="7569200" y="1747441"/>
            <a:ext cx="3810000" cy="3012083"/>
          </a:xfrm>
          <a:prstGeom prst="roundRect">
            <a:avLst>
              <a:gd name="adj" fmla="val 3373"/>
            </a:avLst>
          </a:prstGeom>
          <a:solidFill>
            <a:srgbClr val="FFF1E8"/>
          </a:solidFill>
          <a:ln/>
        </p:spPr>
      </p:sp>
      <p:sp>
        <p:nvSpPr>
          <p:cNvPr id="7" name="Text 3"/>
          <p:cNvSpPr/>
          <p:nvPr/>
        </p:nvSpPr>
        <p:spPr>
          <a:xfrm>
            <a:off x="7772400" y="1950641"/>
            <a:ext cx="350570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Siguientes pasos</a:t>
            </a:r>
            <a:endParaRPr lang="en-US" sz="1600" dirty="0"/>
          </a:p>
        </p:txBody>
      </p:sp>
      <p:sp>
        <p:nvSpPr>
          <p:cNvPr id="8" name="Text 4"/>
          <p:cNvSpPr/>
          <p:nvPr/>
        </p:nvSpPr>
        <p:spPr>
          <a:xfrm>
            <a:off x="7772400" y="2296058"/>
            <a:ext cx="3505708" cy="1263650"/>
          </a:xfrm>
          <a:prstGeom prst="rect">
            <a:avLst/>
          </a:prstGeom>
          <a:noFill/>
          <a:ln/>
        </p:spPr>
        <p:txBody>
          <a:bodyPr wrap="square" lIns="0" tIns="0" rIns="0" bIns="0" rtlCol="0" anchor="t">
            <a:normAutofit/>
          </a:bodyPr>
          <a:lstStyle/>
          <a:p>
            <a:pPr algn="l" marL="198120" indent="-198120">
              <a:lnSpc>
                <a:spcPts val="1950"/>
              </a:lnSpc>
              <a:buSzPct val="100000"/>
              <a:buFontTx/>
              <a:buAutoNum type="arabicPeriod" startAt="1"/>
            </a:pPr>
            <a:r>
              <a:rPr lang="en-US" sz="1300" dirty="0">
                <a:solidFill>
                  <a:srgbClr val="3C4645"/>
                </a:solidFill>
                <a:latin typeface="DM Sans" pitchFamily="34" charset="0"/>
                <a:ea typeface="DM Sans" pitchFamily="34" charset="-122"/>
                <a:cs typeface="DM Sans" pitchFamily="34" charset="-120"/>
              </a:rPr>
              <a:t>Aprobar novelas con modelo Opus</a:t>
            </a:r>
            <a:endParaRPr lang="en-US" sz="1300" dirty="0"/>
          </a:p>
          <a:p>
            <a:pPr algn="l" marL="198120" indent="-198120">
              <a:lnSpc>
                <a:spcPts val="1950"/>
              </a:lnSpc>
              <a:buSzPct val="100000"/>
              <a:buFontTx/>
              <a:buAutoNum type="arabicPeriod" startAt="1"/>
            </a:pPr>
            <a:r>
              <a:rPr lang="en-US" sz="1300" dirty="0">
                <a:solidFill>
                  <a:srgbClr val="3C4645"/>
                </a:solidFill>
                <a:latin typeface="DM Sans" pitchFamily="34" charset="0"/>
                <a:ea typeface="DM Sans" pitchFamily="34" charset="-122"/>
                <a:cs typeface="DM Sans" pitchFamily="34" charset="-120"/>
              </a:rPr>
              <a:t>Specs para H-02, H-03, H-06 y H-07</a:t>
            </a:r>
            <a:endParaRPr lang="en-US" sz="1300" dirty="0"/>
          </a:p>
          <a:p>
            <a:pPr algn="l" marL="198120" indent="-198120">
              <a:lnSpc>
                <a:spcPts val="1950"/>
              </a:lnSpc>
              <a:buSzPct val="100000"/>
              <a:buFontTx/>
              <a:buAutoNum type="arabicPeriod" startAt="1"/>
            </a:pPr>
            <a:r>
              <a:rPr lang="en-US" sz="1300" dirty="0">
                <a:solidFill>
                  <a:srgbClr val="3C4645"/>
                </a:solidFill>
                <a:latin typeface="DM Sans" pitchFamily="34" charset="0"/>
                <a:ea typeface="DM Sans" pitchFamily="34" charset="-122"/>
                <a:cs typeface="DM Sans" pitchFamily="34" charset="-120"/>
              </a:rPr>
              <a:t>Ejecutar TLC y lake build</a:t>
            </a:r>
            <a:endParaRPr lang="en-US" sz="1300" dirty="0"/>
          </a:p>
          <a:p>
            <a:pPr algn="l" marL="198120" indent="-198120">
              <a:lnSpc>
                <a:spcPts val="1950"/>
              </a:lnSpc>
              <a:buSzPct val="100000"/>
              <a:buFontTx/>
              <a:buAutoNum type="arabicPeriod" startAt="1"/>
            </a:pPr>
            <a:r>
              <a:rPr lang="en-US" sz="1300" dirty="0">
                <a:solidFill>
                  <a:srgbClr val="3C4645"/>
                </a:solidFill>
                <a:latin typeface="DM Sans" pitchFamily="34" charset="0"/>
                <a:ea typeface="DM Sans" pitchFamily="34" charset="-122"/>
                <a:cs typeface="DM Sans" pitchFamily="34" charset="-120"/>
              </a:rPr>
              <a:t>Generar la novela de ejemplo</a:t>
            </a:r>
            <a:endParaRPr lang="en-US" sz="1300" dirty="0"/>
          </a:p>
          <a:p>
            <a:pPr algn="l" marL="198120" indent="-198120">
              <a:lnSpc>
                <a:spcPts val="1950"/>
              </a:lnSpc>
              <a:buSzPct val="100000"/>
              <a:buFontTx/>
              <a:buAutoNum type="arabicPeriod" startAt="1"/>
            </a:pPr>
            <a:r>
              <a:rPr lang="en-US" sz="1300" dirty="0">
                <a:solidFill>
                  <a:srgbClr val="3C4645"/>
                </a:solidFill>
                <a:latin typeface="DM Sans" pitchFamily="34" charset="0"/>
                <a:ea typeface="DM Sans" pitchFamily="34" charset="-122"/>
                <a:cs typeface="DM Sans" pitchFamily="34" charset="-120"/>
              </a:rPr>
              <a:t>Piloto con Editorial Hojarasca</a:t>
            </a:r>
            <a:endParaRPr lang="en-US" sz="1300" dirty="0"/>
          </a:p>
        </p:txBody>
      </p:sp>
      <p:sp>
        <p:nvSpPr>
          <p:cNvPr id="9" name="Text 5"/>
          <p:cNvSpPr/>
          <p:nvPr/>
        </p:nvSpPr>
        <p:spPr>
          <a:xfrm>
            <a:off x="812800" y="6238280"/>
            <a:ext cx="308800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93A0AB"/>
                </a:solidFill>
                <a:latin typeface="DM Sans" pitchFamily="34" charset="0"/>
                <a:ea typeface="DM Sans" pitchFamily="34" charset="-122"/>
                <a:cs typeface="DM Sans" pitchFamily="34" charset="-120"/>
              </a:rPr>
              <a:t>© Qaracter group, all rights reserved 2026</a:t>
            </a:r>
            <a:endParaRPr lang="en-US" sz="1200" dirty="0"/>
          </a:p>
        </p:txBody>
      </p:sp>
      <p:sp>
        <p:nvSpPr>
          <p:cNvPr id="10" name="Text 6"/>
          <p:cNvSpPr/>
          <p:nvPr/>
        </p:nvSpPr>
        <p:spPr>
          <a:xfrm>
            <a:off x="11231828" y="6238280"/>
            <a:ext cx="1981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3A0AB"/>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7932"/>
        </a:solidFill>
      </p:bgPr>
    </p:bg>
    <p:spTree>
      <p:nvGrpSpPr>
        <p:cNvPr id="1" name=""/>
        <p:cNvGrpSpPr/>
        <p:nvPr/>
      </p:nvGrpSpPr>
      <p:grpSpPr>
        <a:xfrm>
          <a:off x="0" y="0"/>
          <a:ext cx="0" cy="0"/>
          <a:chOff x="0" y="0"/>
          <a:chExt cx="0" cy="0"/>
        </a:xfrm>
      </p:grpSpPr>
      <p:sp>
        <p:nvSpPr>
          <p:cNvPr id="2" name="Shape 0"/>
          <p:cNvSpPr/>
          <p:nvPr/>
        </p:nvSpPr>
        <p:spPr>
          <a:xfrm>
            <a:off x="7312025" y="1152525"/>
            <a:ext cx="4552950" cy="4552950"/>
          </a:xfrm>
          <a:prstGeom prst="roundRect">
            <a:avLst>
              <a:gd name="adj" fmla="val 35495"/>
            </a:avLst>
          </a:prstGeom>
          <a:noFill/>
          <a:ln w="19050">
            <a:solidFill>
              <a:srgbClr val="FBAA80"/>
            </a:solidFill>
            <a:prstDash val="solid"/>
          </a:ln>
        </p:spPr>
      </p:sp>
      <p:sp>
        <p:nvSpPr>
          <p:cNvPr id="3" name="Shape 1"/>
          <p:cNvSpPr/>
          <p:nvPr/>
        </p:nvSpPr>
        <p:spPr>
          <a:xfrm>
            <a:off x="8010525" y="1851025"/>
            <a:ext cx="3155950" cy="3155950"/>
          </a:xfrm>
          <a:prstGeom prst="roundRect">
            <a:avLst>
              <a:gd name="adj" fmla="val 50000"/>
            </a:avLst>
          </a:prstGeom>
          <a:noFill/>
          <a:ln w="19050">
            <a:solidFill>
              <a:srgbClr val="FBAA80"/>
            </a:solidFill>
            <a:prstDash val="solid"/>
          </a:ln>
        </p:spPr>
      </p:sp>
      <p:sp>
        <p:nvSpPr>
          <p:cNvPr id="4" name="Shape 2"/>
          <p:cNvSpPr/>
          <p:nvPr/>
        </p:nvSpPr>
        <p:spPr>
          <a:xfrm>
            <a:off x="8709025" y="2549525"/>
            <a:ext cx="1758950" cy="1758950"/>
          </a:xfrm>
          <a:prstGeom prst="roundRect">
            <a:avLst>
              <a:gd name="adj" fmla="val 50000"/>
            </a:avLst>
          </a:prstGeom>
          <a:noFill/>
          <a:ln w="19050">
            <a:solidFill>
              <a:srgbClr val="FBAA80"/>
            </a:solidFill>
            <a:prstDash val="solid"/>
          </a:ln>
        </p:spPr>
      </p:sp>
      <p:pic>
        <p:nvPicPr>
          <p:cNvPr id="5" name="Image 0" descr="ellipse">    </p:cNvPr>
          <p:cNvPicPr>
            <a:picLocks noChangeAspect="1"/>
          </p:cNvPicPr>
          <p:nvPr/>
        </p:nvPicPr>
        <p:blipFill>
          <a:blip r:embed="rId1"/>
          <a:srcRect l="0" r="0" t="0" b="0"/>
          <a:stretch/>
        </p:blipFill>
        <p:spPr>
          <a:xfrm>
            <a:off x="11074400" y="762000"/>
            <a:ext cx="304800" cy="304800"/>
          </a:xfrm>
          <a:prstGeom prst="rect">
            <a:avLst/>
          </a:prstGeom>
        </p:spPr>
      </p:pic>
      <p:sp>
        <p:nvSpPr>
          <p:cNvPr id="6" name="Text 3"/>
          <p:cNvSpPr/>
          <p:nvPr/>
        </p:nvSpPr>
        <p:spPr>
          <a:xfrm>
            <a:off x="812800" y="2777468"/>
            <a:ext cx="6278880" cy="825500"/>
          </a:xfrm>
          <a:prstGeom prst="rect">
            <a:avLst/>
          </a:prstGeom>
          <a:noFill/>
          <a:ln/>
        </p:spPr>
        <p:txBody>
          <a:bodyPr wrap="square" lIns="0" tIns="0" rIns="0" bIns="0" rtlCol="0" anchor="t">
            <a:normAutofit/>
          </a:bodyPr>
          <a:lstStyle/>
          <a:p>
            <a:pPr algn="l" indent="0" marL="0">
              <a:lnSpc>
                <a:spcPts val="6300"/>
              </a:lnSpc>
              <a:buNone/>
            </a:pPr>
            <a:r>
              <a:rPr lang="en-US" sz="6000" b="1" spc="-150" kern="0" dirty="0">
                <a:solidFill>
                  <a:srgbClr val="233441"/>
                </a:solidFill>
                <a:latin typeface="DM Sans" pitchFamily="34" charset="0"/>
                <a:ea typeface="DM Sans" pitchFamily="34" charset="-122"/>
                <a:cs typeface="DM Sans" pitchFamily="34" charset="-120"/>
              </a:rPr>
              <a:t>Qaracter</a:t>
            </a:r>
            <a:endParaRPr lang="en-US" sz="6000" dirty="0"/>
          </a:p>
        </p:txBody>
      </p:sp>
      <p:sp>
        <p:nvSpPr>
          <p:cNvPr id="7" name="Text 4"/>
          <p:cNvSpPr/>
          <p:nvPr/>
        </p:nvSpPr>
        <p:spPr>
          <a:xfrm>
            <a:off x="812800" y="3653768"/>
            <a:ext cx="6278880" cy="452107"/>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FFFFFF"/>
                </a:solidFill>
                <a:latin typeface="DM Sans" pitchFamily="34" charset="0"/>
                <a:ea typeface="DM Sans" pitchFamily="34" charset="-122"/>
                <a:cs typeface="DM Sans" pitchFamily="34" charset="-120"/>
              </a:rPr>
              <a:t>Beyond your challenge</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MyStoryMaker · Propuesta para Editorial Hojarasca</dc:title>
  <dc:subject>PptxGenJS Presentation</dc:subject>
  <dc:creator>PptxGenJS</dc:creator>
  <cp:lastModifiedBy>PptxGenJS</cp:lastModifiedBy>
  <cp:revision>1</cp:revision>
  <dcterms:created xsi:type="dcterms:W3CDTF">2026-09-25T18:23:19Z</dcterms:created>
  <dcterms:modified xsi:type="dcterms:W3CDTF">2026-09-25T18:23:19Z</dcterms:modified>
</cp:coreProperties>
</file>